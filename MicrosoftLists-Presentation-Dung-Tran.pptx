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heme/theme2.xml" ContentType="application/vnd.openxmlformats-officedocument.theme+xml"/>
  <Override PartName="/ppt/tags/tag2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tags/tag29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tags/tag30.xml" ContentType="application/vnd.openxmlformats-officedocument.presentationml.tags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46"/>
  </p:notesMasterIdLst>
  <p:sldIdLst>
    <p:sldId id="290" r:id="rId2"/>
    <p:sldId id="331" r:id="rId3"/>
    <p:sldId id="294" r:id="rId4"/>
    <p:sldId id="2145705951" r:id="rId5"/>
    <p:sldId id="2145705925" r:id="rId6"/>
    <p:sldId id="2145705952" r:id="rId7"/>
    <p:sldId id="2145705988" r:id="rId8"/>
    <p:sldId id="2145706005" r:id="rId9"/>
    <p:sldId id="2145706025" r:id="rId10"/>
    <p:sldId id="2145706026" r:id="rId11"/>
    <p:sldId id="2145705990" r:id="rId12"/>
    <p:sldId id="2145706027" r:id="rId13"/>
    <p:sldId id="2145705991" r:id="rId14"/>
    <p:sldId id="2145706028" r:id="rId15"/>
    <p:sldId id="2145705978" r:id="rId16"/>
    <p:sldId id="2145706029" r:id="rId17"/>
    <p:sldId id="2145706031" r:id="rId18"/>
    <p:sldId id="2145706030" r:id="rId19"/>
    <p:sldId id="2145706036" r:id="rId20"/>
    <p:sldId id="2145706037" r:id="rId21"/>
    <p:sldId id="2145706033" r:id="rId22"/>
    <p:sldId id="2145706034" r:id="rId23"/>
    <p:sldId id="2145706035" r:id="rId24"/>
    <p:sldId id="2145706038" r:id="rId25"/>
    <p:sldId id="2145706049" r:id="rId26"/>
    <p:sldId id="2145706039" r:id="rId27"/>
    <p:sldId id="2145706012" r:id="rId28"/>
    <p:sldId id="2145706040" r:id="rId29"/>
    <p:sldId id="2145706041" r:id="rId30"/>
    <p:sldId id="2145706051" r:id="rId31"/>
    <p:sldId id="2145706011" r:id="rId32"/>
    <p:sldId id="2145706050" r:id="rId33"/>
    <p:sldId id="2145706013" r:id="rId34"/>
    <p:sldId id="2145706042" r:id="rId35"/>
    <p:sldId id="2145706043" r:id="rId36"/>
    <p:sldId id="2145706016" r:id="rId37"/>
    <p:sldId id="2145706044" r:id="rId38"/>
    <p:sldId id="2145706045" r:id="rId39"/>
    <p:sldId id="2145706014" r:id="rId40"/>
    <p:sldId id="2145706046" r:id="rId41"/>
    <p:sldId id="2145706047" r:id="rId42"/>
    <p:sldId id="2145706015" r:id="rId43"/>
    <p:sldId id="2145706048" r:id="rId44"/>
    <p:sldId id="2145706004" r:id="rId45"/>
  </p:sldIdLst>
  <p:sldSz cx="18288000" cy="10287000"/>
  <p:notesSz cx="6858000" cy="9144000"/>
  <p:embeddedFontLst>
    <p:embeddedFont>
      <p:font typeface="Cascadia Mono" panose="020B0609020000020004" pitchFamily="49" charset="0"/>
      <p:regular r:id="rId47"/>
      <p:bold r:id="rId48"/>
      <p:italic r:id="rId49"/>
      <p:boldItalic r:id="rId5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290"/>
            <p14:sldId id="331"/>
            <p14:sldId id="294"/>
            <p14:sldId id="2145705951"/>
            <p14:sldId id="2145705925"/>
            <p14:sldId id="2145705952"/>
            <p14:sldId id="2145705988"/>
            <p14:sldId id="2145706005"/>
            <p14:sldId id="2145706025"/>
            <p14:sldId id="2145706026"/>
            <p14:sldId id="2145705990"/>
            <p14:sldId id="2145706027"/>
            <p14:sldId id="2145705991"/>
            <p14:sldId id="2145706028"/>
            <p14:sldId id="2145705978"/>
            <p14:sldId id="2145706029"/>
            <p14:sldId id="2145706031"/>
            <p14:sldId id="2145706030"/>
            <p14:sldId id="2145706036"/>
            <p14:sldId id="2145706037"/>
            <p14:sldId id="2145706033"/>
            <p14:sldId id="2145706034"/>
            <p14:sldId id="2145706035"/>
            <p14:sldId id="2145706038"/>
            <p14:sldId id="2145706049"/>
            <p14:sldId id="2145706039"/>
            <p14:sldId id="2145706012"/>
            <p14:sldId id="2145706040"/>
            <p14:sldId id="2145706041"/>
            <p14:sldId id="2145706051"/>
            <p14:sldId id="2145706011"/>
            <p14:sldId id="2145706050"/>
            <p14:sldId id="2145706013"/>
            <p14:sldId id="2145706042"/>
            <p14:sldId id="2145706043"/>
            <p14:sldId id="2145706016"/>
            <p14:sldId id="2145706044"/>
            <p14:sldId id="2145706045"/>
            <p14:sldId id="2145706014"/>
            <p14:sldId id="2145706046"/>
            <p14:sldId id="2145706047"/>
            <p14:sldId id="2145706015"/>
            <p14:sldId id="2145706048"/>
            <p14:sldId id="2145706004"/>
          </p14:sldIdLst>
        </p14:section>
        <p14:section name="Default Section" id="{4A2A6805-F643-43CA-A264-483E695524C1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428" autoAdjust="0"/>
    <p:restoredTop sz="72026" autoAdjust="0"/>
  </p:normalViewPr>
  <p:slideViewPr>
    <p:cSldViewPr>
      <p:cViewPr>
        <p:scale>
          <a:sx n="50" d="100"/>
          <a:sy n="50" d="100"/>
        </p:scale>
        <p:origin x="725" y="2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7F3D95-C6A4-4231-825D-6C7EF1D6A15A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C2FD7-E7E2-4303-A14F-1AE6540A7D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12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CH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92626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55DA-FFB3-CD96-49C7-13E5BD21E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D26C4-EB8E-F90B-B6B1-637DEBE50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0F57F-EAD8-D5E8-5D44-20FF564AF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38117-AC65-D396-6A73-AA306EAD6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114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6863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5178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6360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6691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32042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53636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20627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90155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91772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7600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2543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11043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99050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23005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86405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88002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75451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882007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985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61808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24453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54041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25121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0995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77838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03505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4900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25466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325044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44535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20184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42745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72432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58917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668286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0447F-1CB7-04D9-0ABB-E37A0760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B055D-4B30-A59E-E929-5D5C47DDF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1A2DD-CFBC-9487-1529-1ED478A5C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2A52D-A0FB-6089-A27B-06DBDB73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8549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chemeClr val="tx2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3636000" y="5056442"/>
            <a:ext cx="11234289" cy="182111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42186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222616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753800" y="2943000"/>
            <a:ext cx="3888000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2723532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2295000"/>
            <a:ext cx="7848000" cy="7344000"/>
          </a:xfrm>
        </p:spPr>
        <p:txBody>
          <a:bodyPr anchor="t"/>
          <a:lstStyle>
            <a:lvl1pPr marL="938213" indent="-938213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938213" indent="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409472261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>
          <p15:clr>
            <a:srgbClr val="FBAE40"/>
          </p15:clr>
        </p15:guide>
        <p15:guide id="9" pos="270">
          <p15:clr>
            <a:srgbClr val="FBAE40"/>
          </p15:clr>
        </p15:guide>
        <p15:guide id="10" pos="3839">
          <p15:clr>
            <a:srgbClr val="FBAE40"/>
          </p15:clr>
        </p15:guide>
        <p15:guide id="11" orient="horz" pos="4047">
          <p15:clr>
            <a:srgbClr val="FBAE40"/>
          </p15:clr>
        </p15:guide>
        <p15:guide id="12" orient="horz" pos="963">
          <p15:clr>
            <a:srgbClr val="FBAE40"/>
          </p15:clr>
        </p15:guide>
        <p15:guide id="13" pos="356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863511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2293145"/>
            <a:ext cx="16993800" cy="734853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9275514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881"/>
            <a:ext cx="169938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69938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709604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1" y="3240881"/>
            <a:ext cx="8171999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1" y="2295000"/>
            <a:ext cx="8171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68000" y="3240881"/>
            <a:ext cx="8174682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468000" y="2295000"/>
            <a:ext cx="8174682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60332400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1359">
          <p15:clr>
            <a:srgbClr val="FBAE40"/>
          </p15:clr>
        </p15:guide>
        <p15:guide id="21" pos="3974">
          <p15:clr>
            <a:srgbClr val="FBAE40"/>
          </p15:clr>
        </p15:guide>
        <p15:guide id="22" pos="370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2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74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40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4080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17448196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210">
          <p15:clr>
            <a:srgbClr val="FBAE40"/>
          </p15:clr>
        </p15:guide>
        <p15:guide id="24" pos="4940">
          <p15:clr>
            <a:srgbClr val="FBAE40"/>
          </p15:clr>
        </p15:guide>
        <p15:guide id="25" pos="2740">
          <p15:clr>
            <a:srgbClr val="FBAE40"/>
          </p15:clr>
        </p15:guide>
        <p15:guide id="26" pos="247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002"/>
            <a:ext cx="7848300" cy="640168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0" y="2295000"/>
            <a:ext cx="78483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097457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orient="horz" pos="1359">
          <p15:clr>
            <a:srgbClr val="FBAE40"/>
          </p15:clr>
        </p15:guide>
        <p15:guide id="22" pos="3568">
          <p15:clr>
            <a:srgbClr val="FBAE40"/>
          </p15:clr>
        </p15:guide>
        <p15:guide id="23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2805688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2427931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242982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4590941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492">
          <p15:clr>
            <a:srgbClr val="FBAE40"/>
          </p15:clr>
        </p15:guide>
        <p15:guide id="24" pos="576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872137" y="7697684"/>
            <a:ext cx="4767864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8369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7" y="3236120"/>
            <a:ext cx="5892534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7" y="2295000"/>
            <a:ext cx="5892534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88533" y="3236120"/>
            <a:ext cx="5887397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8533" y="2295000"/>
            <a:ext cx="588739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484682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>
          <p15:clr>
            <a:srgbClr val="FBAE40"/>
          </p15:clr>
        </p15:guide>
        <p15:guide id="20" pos="270">
          <p15:clr>
            <a:srgbClr val="FBAE40"/>
          </p15:clr>
        </p15:guide>
        <p15:guide id="21" orient="horz" pos="692">
          <p15:clr>
            <a:srgbClr val="FBAE40"/>
          </p15:clr>
        </p15:guide>
        <p15:guide id="22" orient="horz" pos="4049">
          <p15:clr>
            <a:srgbClr val="FBAE40"/>
          </p15:clr>
        </p15:guide>
        <p15:guide id="23" orient="horz" pos="1359">
          <p15:clr>
            <a:srgbClr val="FBAE40"/>
          </p15:clr>
        </p15:guide>
        <p15:guide id="24" pos="5490">
          <p15:clr>
            <a:srgbClr val="FBAE40"/>
          </p15:clr>
        </p15:guide>
        <p15:guide id="25" pos="5760">
          <p15:clr>
            <a:srgbClr val="FBAE40"/>
          </p15:clr>
        </p15:guide>
        <p15:guide id="26" pos="3018">
          <p15:clr>
            <a:srgbClr val="FBAE40"/>
          </p15:clr>
        </p15:guide>
        <p15:guide id="27" pos="274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793781" y="2293145"/>
            <a:ext cx="7848903" cy="7344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96002" y="6395930"/>
            <a:ext cx="7198200" cy="3245752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96002" y="6357834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8062202" y="9438783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14224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pos="411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2916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5212859"/>
            <a:ext cx="16994684" cy="442882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481423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2187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8288000" cy="10287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1647001"/>
            <a:ext cx="12960000" cy="1795767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62148" y="258927"/>
            <a:ext cx="2025852" cy="1026546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31548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>
          <p15:clr>
            <a:srgbClr val="FBAE40"/>
          </p15:clr>
        </p15:guide>
        <p15:guide id="4" pos="5715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6147926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9204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8447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9204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447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4923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03416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3684274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7242598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94535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02334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37338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37338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76271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76271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77737265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3699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128894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979802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79802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431751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431751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1645370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997" y="3024000"/>
            <a:ext cx="7883916" cy="452817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997" y="2281238"/>
            <a:ext cx="788391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48000" y="2295000"/>
            <a:ext cx="3240000" cy="32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83997" y="4271291"/>
            <a:ext cx="7883916" cy="1709493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997" y="6803904"/>
            <a:ext cx="7883916" cy="2837778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8872465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16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874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516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8000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87487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874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7487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095890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3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47999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7999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3415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415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3415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41822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41822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41822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41822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22262467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1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8000" y="2281237"/>
            <a:ext cx="16992000" cy="735776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368" y="10650900"/>
            <a:ext cx="6172200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5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916400" y="10650900"/>
            <a:ext cx="707232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5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6532422" y="529200"/>
            <a:ext cx="1107578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01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</p:sldLayoutIdLst>
  <p:transition spd="slow">
    <p:push dir="u"/>
  </p:transition>
  <p:hf sldNum="0" hdr="0" ftr="0" dt="0"/>
  <p:txStyles>
    <p:titleStyle>
      <a:lvl1pPr algn="l" defTabSz="1371600" rtl="0" eaLnBrk="1" latinLnBrk="0" hangingPunct="1">
        <a:lnSpc>
          <a:spcPct val="100000"/>
        </a:lnSpc>
        <a:spcBef>
          <a:spcPct val="0"/>
        </a:spcBef>
        <a:buNone/>
        <a:defRPr sz="4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40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81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62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02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243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7.xml"/><Relationship Id="rId6" Type="http://schemas.openxmlformats.org/officeDocument/2006/relationships/image" Target="../media/image12.jpg"/><Relationship Id="rId11" Type="http://schemas.openxmlformats.org/officeDocument/2006/relationships/image" Target="../media/image17.png"/><Relationship Id="rId5" Type="http://schemas.openxmlformats.org/officeDocument/2006/relationships/image" Target="../media/image1.emf"/><Relationship Id="rId10" Type="http://schemas.openxmlformats.org/officeDocument/2006/relationships/image" Target="../media/image16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8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0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bbv Software Services AG  |  </a:t>
            </a:r>
            <a:r>
              <a:rPr lang="en-CH"/>
              <a:t>Date</a:t>
            </a:r>
            <a:r>
              <a:rPr lang="en-US"/>
              <a:t>: 21/07/2025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Presentation on MS Lists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14393747" y="3520299"/>
            <a:ext cx="2604509" cy="789402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9144000" y="1647000"/>
            <a:ext cx="9144000" cy="864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8000" y="2333498"/>
            <a:ext cx="7848000" cy="7344000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Key Functionalities</a:t>
            </a:r>
          </a:p>
          <a:p>
            <a:r>
              <a:rPr lang="en-US" dirty="0"/>
              <a:t>Q&amp;A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647000"/>
            <a:ext cx="18288000" cy="324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What is MS Lists?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Introduction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7E9F1D8E-5CD6-669B-488D-B0394463E63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4559" t="-5617" r="31079" b="-2491"/>
          <a:stretch>
            <a:fillRect/>
          </a:stretch>
        </p:blipFill>
        <p:spPr>
          <a:xfrm>
            <a:off x="9144000" y="1647000"/>
            <a:ext cx="9144000" cy="864000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E9E7B5-BDF1-4F3B-5DC4-0AD36B6113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003934" lvl="1" indent="-501968">
              <a:lnSpc>
                <a:spcPct val="10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MS List is a tool for managing structured lists of data</a:t>
            </a:r>
          </a:p>
          <a:p>
            <a:pPr marL="1003934" lvl="1" indent="-501968">
              <a:lnSpc>
                <a:spcPct val="10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Works like a simple table or database</a:t>
            </a:r>
          </a:p>
          <a:p>
            <a:pPr marL="1003934" lvl="1" indent="-501968">
              <a:lnSpc>
                <a:spcPct val="10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Let’s users:</a:t>
            </a:r>
          </a:p>
          <a:p>
            <a:pPr marL="2007869" lvl="2" indent="-669290">
              <a:lnSpc>
                <a:spcPct val="10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Create lists</a:t>
            </a:r>
          </a:p>
          <a:p>
            <a:pPr marL="2007869" lvl="2" indent="-669290">
              <a:lnSpc>
                <a:spcPct val="10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View data</a:t>
            </a:r>
          </a:p>
          <a:p>
            <a:pPr marL="2007869" lvl="2" indent="-669290">
              <a:lnSpc>
                <a:spcPct val="10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Manage info clearly and easily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1DB2E-AD64-0680-8783-D12FD58E83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What is Microsoft Lists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5096EED-E4A7-AF91-27B1-EB89B3B3A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9916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D18B968-C584-8DAD-AD19-51B0EF3222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Key Functionalities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A8424D-E30A-CC8F-7CCA-CAC552D85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58858" y="1943100"/>
            <a:ext cx="10829142" cy="6957722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27CAB0-B37D-52A6-4426-B2C2E84419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7999" y="2740325"/>
            <a:ext cx="7316129" cy="4806348"/>
          </a:xfrm>
        </p:spPr>
        <p:txBody>
          <a:bodyPr wrap="square" anchor="t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/>
              <a:t>Create and Manage Lists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Columns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Manage List Items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Views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Conditional Formatting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Permissions and Sharing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Built-in Templates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2C62CE5-8D7B-3AB9-4C63-246726DC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Key Functionalities of MS Lists</a:t>
            </a:r>
          </a:p>
        </p:txBody>
      </p:sp>
    </p:spTree>
    <p:extLst>
      <p:ext uri="{BB962C8B-B14F-4D97-AF65-F5344CB8AC3E}">
        <p14:creationId xmlns:p14="http://schemas.microsoft.com/office/powerpoint/2010/main" val="13618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D3E56E9D-B272-9919-B612-9B7393E6860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600" b="1600"/>
          <a:stretch/>
        </p:blipFill>
        <p:spPr/>
      </p:pic>
    </p:spTree>
    <p:extLst>
      <p:ext uri="{BB962C8B-B14F-4D97-AF65-F5344CB8AC3E}">
        <p14:creationId xmlns:p14="http://schemas.microsoft.com/office/powerpoint/2010/main" val="350523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864C-4583-CC29-9DF4-730C9092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6482B54-9CF4-9EAB-0CED-7385EC256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Dashboard Screen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118A-5419-986A-552C-D70697795F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36" t="5318" r="1922" b="8706"/>
          <a:stretch/>
        </p:blipFill>
        <p:spPr>
          <a:xfrm>
            <a:off x="2590800" y="1485900"/>
            <a:ext cx="13716000" cy="8537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186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58D5B8-4BCE-F3FD-F2DB-AA51CF997B6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92" b="192"/>
          <a:stretch/>
        </p:blipFill>
        <p:spPr/>
      </p:pic>
    </p:spTree>
    <p:extLst>
      <p:ext uri="{BB962C8B-B14F-4D97-AF65-F5344CB8AC3E}">
        <p14:creationId xmlns:p14="http://schemas.microsoft.com/office/powerpoint/2010/main" val="3442348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0BCACF5E-536E-907E-916E-391B1237CE5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9071" b="9071"/>
          <a:stretch/>
        </p:blipFill>
        <p:spPr/>
      </p:pic>
    </p:spTree>
    <p:extLst>
      <p:ext uri="{BB962C8B-B14F-4D97-AF65-F5344CB8AC3E}">
        <p14:creationId xmlns:p14="http://schemas.microsoft.com/office/powerpoint/2010/main" val="48050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148836-0D2D-E5BA-C795-DB2F2F3DC4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39114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6EBA56F1-64EB-28DA-C64E-3D66D4DA152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1849" r="1849"/>
          <a:stretch/>
        </p:blipFill>
        <p:spPr/>
      </p:pic>
    </p:spTree>
    <p:extLst>
      <p:ext uri="{BB962C8B-B14F-4D97-AF65-F5344CB8AC3E}">
        <p14:creationId xmlns:p14="http://schemas.microsoft.com/office/powerpoint/2010/main" val="6850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790497-41CA-ECB4-231B-C6FE0AA7039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05482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0FA61C8C-F69F-363F-8C83-A29B650666D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983" b="5983"/>
          <a:stretch/>
        </p:blipFill>
        <p:spPr/>
      </p:pic>
    </p:spTree>
    <p:extLst>
      <p:ext uri="{BB962C8B-B14F-4D97-AF65-F5344CB8AC3E}">
        <p14:creationId xmlns:p14="http://schemas.microsoft.com/office/powerpoint/2010/main" val="2098581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F08E40B-BCF6-593A-0801-70707061B84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187" b="3187"/>
          <a:stretch/>
        </p:blipFill>
        <p:spPr/>
      </p:pic>
    </p:spTree>
    <p:extLst>
      <p:ext uri="{BB962C8B-B14F-4D97-AF65-F5344CB8AC3E}">
        <p14:creationId xmlns:p14="http://schemas.microsoft.com/office/powerpoint/2010/main" val="364169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4813B33-3F5F-153F-E137-495B389362D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712" b="2712"/>
          <a:stretch/>
        </p:blipFill>
        <p:spPr/>
      </p:pic>
    </p:spTree>
    <p:extLst>
      <p:ext uri="{BB962C8B-B14F-4D97-AF65-F5344CB8AC3E}">
        <p14:creationId xmlns:p14="http://schemas.microsoft.com/office/powerpoint/2010/main" val="2322599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4BBA0D4F-937A-412D-3B78-4D37B7C56D2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880" b="7880"/>
          <a:stretch/>
        </p:blipFill>
        <p:spPr/>
      </p:pic>
    </p:spTree>
    <p:extLst>
      <p:ext uri="{BB962C8B-B14F-4D97-AF65-F5344CB8AC3E}">
        <p14:creationId xmlns:p14="http://schemas.microsoft.com/office/powerpoint/2010/main" val="561218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E567D92-9F41-9F54-8C66-F908EE61FBE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062" b="7062"/>
          <a:stretch/>
        </p:blipFill>
        <p:spPr/>
      </p:pic>
    </p:spTree>
    <p:extLst>
      <p:ext uri="{BB962C8B-B14F-4D97-AF65-F5344CB8AC3E}">
        <p14:creationId xmlns:p14="http://schemas.microsoft.com/office/powerpoint/2010/main" val="11187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1AAAF11-6609-D9AA-06CC-74DDE48876C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679" b="679"/>
          <a:stretch/>
        </p:blipFill>
        <p:spPr>
          <a:xfrm>
            <a:off x="304800" y="1485900"/>
            <a:ext cx="18288000" cy="8640000"/>
          </a:xfrm>
        </p:spPr>
      </p:pic>
    </p:spTree>
    <p:extLst>
      <p:ext uri="{BB962C8B-B14F-4D97-AF65-F5344CB8AC3E}">
        <p14:creationId xmlns:p14="http://schemas.microsoft.com/office/powerpoint/2010/main" val="2402248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DFC5B3D-8410-19F7-C701-7FA6A2E4CCF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0249" b="10249"/>
          <a:stretch/>
        </p:blipFill>
        <p:spPr/>
      </p:pic>
    </p:spTree>
    <p:extLst>
      <p:ext uri="{BB962C8B-B14F-4D97-AF65-F5344CB8AC3E}">
        <p14:creationId xmlns:p14="http://schemas.microsoft.com/office/powerpoint/2010/main" val="568164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9EC249-2F1D-93FA-82F7-B0F716103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790700"/>
            <a:ext cx="17662459" cy="784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1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0ABCE54-E25A-11F8-54B3-B0FFE2D95D3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053" b="5053"/>
          <a:stretch/>
        </p:blipFill>
        <p:spPr/>
      </p:pic>
    </p:spTree>
    <p:extLst>
      <p:ext uri="{BB962C8B-B14F-4D97-AF65-F5344CB8AC3E}">
        <p14:creationId xmlns:p14="http://schemas.microsoft.com/office/powerpoint/2010/main" val="3762678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D9A7ADC7-4D4B-12CB-AA07-68458D26E7F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80" b="780"/>
          <a:stretch>
            <a:fillRect/>
          </a:stretch>
        </p:blipFill>
        <p:spPr>
          <a:xfrm>
            <a:off x="0" y="1646238"/>
            <a:ext cx="18288000" cy="864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865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4162356-2EF8-B265-AF7F-04EE50B2E3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8521" b="8521"/>
          <a:stretch/>
        </p:blipFill>
        <p:spPr/>
      </p:pic>
    </p:spTree>
    <p:extLst>
      <p:ext uri="{BB962C8B-B14F-4D97-AF65-F5344CB8AC3E}">
        <p14:creationId xmlns:p14="http://schemas.microsoft.com/office/powerpoint/2010/main" val="227471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List Dynamic Column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F9CBE3FC-76CD-142F-807D-232F09C1884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538" r="538"/>
          <a:stretch/>
        </p:blipFill>
        <p:spPr/>
      </p:pic>
    </p:spTree>
    <p:extLst>
      <p:ext uri="{BB962C8B-B14F-4D97-AF65-F5344CB8AC3E}">
        <p14:creationId xmlns:p14="http://schemas.microsoft.com/office/powerpoint/2010/main" val="1608011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List Dynamic Column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DE948695-13D6-8DDA-C631-49AB982CE2A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6299" b="6299"/>
          <a:stretch/>
        </p:blipFill>
        <p:spPr/>
      </p:pic>
    </p:spTree>
    <p:extLst>
      <p:ext uri="{BB962C8B-B14F-4D97-AF65-F5344CB8AC3E}">
        <p14:creationId xmlns:p14="http://schemas.microsoft.com/office/powerpoint/2010/main" val="354674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755ABE1A-580A-B808-5AAC-FE4B72F39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8269" b="8269"/>
          <a:stretch/>
        </p:blipFill>
        <p:spPr/>
      </p:pic>
    </p:spTree>
    <p:extLst>
      <p:ext uri="{BB962C8B-B14F-4D97-AF65-F5344CB8AC3E}">
        <p14:creationId xmlns:p14="http://schemas.microsoft.com/office/powerpoint/2010/main" val="585905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14CBDC69-0690-1BD7-47C7-618F695156D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4422" r="4422"/>
          <a:stretch/>
        </p:blipFill>
        <p:spPr/>
      </p:pic>
    </p:spTree>
    <p:extLst>
      <p:ext uri="{BB962C8B-B14F-4D97-AF65-F5344CB8AC3E}">
        <p14:creationId xmlns:p14="http://schemas.microsoft.com/office/powerpoint/2010/main" val="958940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1BB915C-6F94-AC9A-9E1A-5FADB7C2918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996" b="1996"/>
          <a:stretch/>
        </p:blipFill>
        <p:spPr/>
      </p:pic>
    </p:spTree>
    <p:extLst>
      <p:ext uri="{BB962C8B-B14F-4D97-AF65-F5344CB8AC3E}">
        <p14:creationId xmlns:p14="http://schemas.microsoft.com/office/powerpoint/2010/main" val="138363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DA7A477-BE4A-A724-3F0F-F7BC799B2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97380"/>
            <a:ext cx="6735764" cy="78627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745646A-28AB-7D16-7C5D-DDE3529511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18" r="4733"/>
          <a:stretch/>
        </p:blipFill>
        <p:spPr>
          <a:xfrm>
            <a:off x="6248400" y="2545080"/>
            <a:ext cx="11279903" cy="58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009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Placeholder 21">
            <a:extLst>
              <a:ext uri="{FF2B5EF4-FFF2-40B4-BE49-F238E27FC236}">
                <a16:creationId xmlns:a16="http://schemas.microsoft.com/office/drawing/2014/main" id="{DE8C7411-AEF6-D5EA-1799-468AC927FE2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045" b="2045"/>
          <a:stretch/>
        </p:blipFill>
        <p:spPr/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/>
              <a:t>System </a:t>
            </a:r>
            <a:r>
              <a:rPr lang="en-US" dirty="0"/>
              <a:t>Column</a:t>
            </a:r>
          </a:p>
        </p:txBody>
      </p:sp>
    </p:spTree>
    <p:extLst>
      <p:ext uri="{BB962C8B-B14F-4D97-AF65-F5344CB8AC3E}">
        <p14:creationId xmlns:p14="http://schemas.microsoft.com/office/powerpoint/2010/main" val="3671213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/>
              <a:t>System </a:t>
            </a:r>
            <a:r>
              <a:rPr lang="en-US" dirty="0"/>
              <a:t>Column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F715DD8-28C1-CD0F-1DB2-0498EEE0A77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716" b="2716"/>
          <a:stretch/>
        </p:blipFill>
        <p:spPr/>
      </p:pic>
    </p:spTree>
    <p:extLst>
      <p:ext uri="{BB962C8B-B14F-4D97-AF65-F5344CB8AC3E}">
        <p14:creationId xmlns:p14="http://schemas.microsoft.com/office/powerpoint/2010/main" val="2579691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904C3DAC-A0C0-D8E6-39CD-98A246CCD10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543" b="3543"/>
          <a:stretch/>
        </p:blipFill>
        <p:spPr/>
      </p:pic>
    </p:spTree>
    <p:extLst>
      <p:ext uri="{BB962C8B-B14F-4D97-AF65-F5344CB8AC3E}">
        <p14:creationId xmlns:p14="http://schemas.microsoft.com/office/powerpoint/2010/main" val="326504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7FDD03F5-C089-A145-0F38-70C4AADD97C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677" b="2677"/>
          <a:stretch/>
        </p:blipFill>
        <p:spPr>
          <a:xfrm>
            <a:off x="-12700" y="1652588"/>
            <a:ext cx="18288000" cy="8640762"/>
          </a:xfrm>
        </p:spPr>
      </p:pic>
    </p:spTree>
    <p:extLst>
      <p:ext uri="{BB962C8B-B14F-4D97-AF65-F5344CB8AC3E}">
        <p14:creationId xmlns:p14="http://schemas.microsoft.com/office/powerpoint/2010/main" val="1548382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199E70D8-6424-DF68-676C-191382451D9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143" b="2143"/>
          <a:stretch/>
        </p:blipFill>
        <p:spPr/>
      </p:pic>
    </p:spTree>
    <p:extLst>
      <p:ext uri="{BB962C8B-B14F-4D97-AF65-F5344CB8AC3E}">
        <p14:creationId xmlns:p14="http://schemas.microsoft.com/office/powerpoint/2010/main" val="3375647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36F41067-6A9B-248C-BB16-9376D2F935F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9107" b="9107"/>
          <a:stretch/>
        </p:blipFill>
        <p:spPr>
          <a:xfrm>
            <a:off x="343199" y="1647000"/>
            <a:ext cx="17640001" cy="8333859"/>
          </a:xfrm>
        </p:spPr>
      </p:pic>
    </p:spTree>
    <p:extLst>
      <p:ext uri="{BB962C8B-B14F-4D97-AF65-F5344CB8AC3E}">
        <p14:creationId xmlns:p14="http://schemas.microsoft.com/office/powerpoint/2010/main" val="249869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52898742-7D9C-D455-5500-44DD47434F2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652" b="7652"/>
          <a:stretch/>
        </p:blipFill>
        <p:spPr/>
      </p:pic>
    </p:spTree>
    <p:extLst>
      <p:ext uri="{BB962C8B-B14F-4D97-AF65-F5344CB8AC3E}">
        <p14:creationId xmlns:p14="http://schemas.microsoft.com/office/powerpoint/2010/main" val="126231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1A595C8-E79E-8379-CEA2-2F0E17291A2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128" b="5128"/>
          <a:stretch/>
        </p:blipFill>
        <p:spPr/>
      </p:pic>
    </p:spTree>
    <p:extLst>
      <p:ext uri="{BB962C8B-B14F-4D97-AF65-F5344CB8AC3E}">
        <p14:creationId xmlns:p14="http://schemas.microsoft.com/office/powerpoint/2010/main" val="2378652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F1BAD030-CA51-21DD-C902-F7F1CA193A1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971" b="7971"/>
          <a:stretch/>
        </p:blipFill>
        <p:spPr/>
      </p:pic>
    </p:spTree>
    <p:extLst>
      <p:ext uri="{BB962C8B-B14F-4D97-AF65-F5344CB8AC3E}">
        <p14:creationId xmlns:p14="http://schemas.microsoft.com/office/powerpoint/2010/main" val="377918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1295BF0-07FF-D388-E5F8-53D9BECB2B2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136" b="5136"/>
          <a:stretch/>
        </p:blipFill>
        <p:spPr/>
      </p:pic>
    </p:spTree>
    <p:extLst>
      <p:ext uri="{BB962C8B-B14F-4D97-AF65-F5344CB8AC3E}">
        <p14:creationId xmlns:p14="http://schemas.microsoft.com/office/powerpoint/2010/main" val="3709399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147EB256-9E25-7464-493F-E10BB0BEDC7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434" r="434"/>
          <a:stretch/>
        </p:blipFill>
        <p:spPr/>
      </p:pic>
    </p:spTree>
    <p:extLst>
      <p:ext uri="{BB962C8B-B14F-4D97-AF65-F5344CB8AC3E}">
        <p14:creationId xmlns:p14="http://schemas.microsoft.com/office/powerpoint/2010/main" val="259899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Trash Screen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5EF63BF3-67CF-E7C0-1D8D-D270A1045BA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675" r="675"/>
          <a:stretch/>
        </p:blipFill>
        <p:spPr/>
      </p:pic>
    </p:spTree>
    <p:extLst>
      <p:ext uri="{BB962C8B-B14F-4D97-AF65-F5344CB8AC3E}">
        <p14:creationId xmlns:p14="http://schemas.microsoft.com/office/powerpoint/2010/main" val="334640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Trash Screen</a:t>
            </a:r>
            <a:endParaRPr lang="en-US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5FF37A8C-E777-75F5-FF3D-A62CCD4BB39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27" b="127"/>
          <a:stretch/>
        </p:blipFill>
        <p:spPr/>
      </p:pic>
    </p:spTree>
    <p:extLst>
      <p:ext uri="{BB962C8B-B14F-4D97-AF65-F5344CB8AC3E}">
        <p14:creationId xmlns:p14="http://schemas.microsoft.com/office/powerpoint/2010/main" val="254741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3306-D96C-F23E-D98C-D03D1053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43EF90ED-AEED-A160-1BCE-A3CD84AD9E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43EF90ED-AEED-A160-1BCE-A3CD84AD9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9AC88A2-8CBC-9629-9F61-1ECA954DFD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28F7F58-5182-D291-B326-EF091C452E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013249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2756</TotalTime>
  <Words>5378</Words>
  <Application>Microsoft Office PowerPoint</Application>
  <PresentationFormat>Custom</PresentationFormat>
  <Paragraphs>1020</Paragraphs>
  <Slides>44</Slides>
  <Notes>42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Aptos</vt:lpstr>
      <vt:lpstr>Cascadia Mono</vt:lpstr>
      <vt:lpstr>bbv template EN</vt:lpstr>
      <vt:lpstr>think-cell Slide</vt:lpstr>
      <vt:lpstr>Presentation on MS Lists Functionalities</vt:lpstr>
      <vt:lpstr>Agenda</vt:lpstr>
      <vt:lpstr>Introduction</vt:lpstr>
      <vt:lpstr>Introduction</vt:lpstr>
      <vt:lpstr>Key Functionalities</vt:lpstr>
      <vt:lpstr>Key Functionalities of MS Lists</vt:lpstr>
      <vt:lpstr>Dashboard Screen</vt:lpstr>
      <vt:lpstr>Dashboard Screen</vt:lpstr>
      <vt:lpstr>Dashboard Screen</vt:lpstr>
      <vt:lpstr>Dashboard Screen</vt:lpstr>
      <vt:lpstr>Create List Screen</vt:lpstr>
      <vt:lpstr>Create List Screen</vt:lpstr>
      <vt:lpstr>Create List From List Type</vt:lpstr>
      <vt:lpstr>Create List From List Type</vt:lpstr>
      <vt:lpstr>Create List Screen</vt:lpstr>
      <vt:lpstr>Create List Screen</vt:lpstr>
      <vt:lpstr>Create List From Template</vt:lpstr>
      <vt:lpstr>Create List From Template</vt:lpstr>
      <vt:lpstr>Template View &amp; Template Column</vt:lpstr>
      <vt:lpstr>Template View &amp; Template Column</vt:lpstr>
      <vt:lpstr>List Management</vt:lpstr>
      <vt:lpstr>List Management</vt:lpstr>
      <vt:lpstr>List Row Detail</vt:lpstr>
      <vt:lpstr>List Row Detail</vt:lpstr>
      <vt:lpstr>List Dynamic Column</vt:lpstr>
      <vt:lpstr>List Dynamic Column</vt:lpstr>
      <vt:lpstr>Dynamic Column Setting</vt:lpstr>
      <vt:lpstr>Dynamic Column Setting</vt:lpstr>
      <vt:lpstr>Dynamic Column Setting</vt:lpstr>
      <vt:lpstr>Dynamic Column Setting</vt:lpstr>
      <vt:lpstr>System Column</vt:lpstr>
      <vt:lpstr>System Column</vt:lpstr>
      <vt:lpstr>List View</vt:lpstr>
      <vt:lpstr>List View</vt:lpstr>
      <vt:lpstr>List View</vt:lpstr>
      <vt:lpstr>Manage Access</vt:lpstr>
      <vt:lpstr>Manage Access</vt:lpstr>
      <vt:lpstr>Manage Access</vt:lpstr>
      <vt:lpstr>Manage Access</vt:lpstr>
      <vt:lpstr>Manage Access</vt:lpstr>
      <vt:lpstr>Manage Access</vt:lpstr>
      <vt:lpstr>Trash Screen</vt:lpstr>
      <vt:lpstr>Trash Screen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Young Professional Internship Program</dc:title>
  <dc:creator>Dũng Trần</dc:creator>
  <cp:lastModifiedBy>Dũng Trần</cp:lastModifiedBy>
  <cp:revision>21</cp:revision>
  <dcterms:created xsi:type="dcterms:W3CDTF">2006-08-16T00:00:00Z</dcterms:created>
  <dcterms:modified xsi:type="dcterms:W3CDTF">2025-08-12T07:53:20Z</dcterms:modified>
  <dc:identifier>DAGuFyPGShM</dc:identifier>
</cp:coreProperties>
</file>
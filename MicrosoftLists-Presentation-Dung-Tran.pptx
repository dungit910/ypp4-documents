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heme/theme2.xml" ContentType="application/vnd.openxmlformats-officedocument.theme+xml"/>
  <Override PartName="/ppt/tags/tag27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tags/tag29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tags/tag30.xml" ContentType="application/vnd.openxmlformats-officedocument.presentationml.tags+xml"/>
  <Override PartName="/ppt/notesSlides/notesSlide4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46"/>
  </p:notesMasterIdLst>
  <p:sldIdLst>
    <p:sldId id="290" r:id="rId2"/>
    <p:sldId id="331" r:id="rId3"/>
    <p:sldId id="294" r:id="rId4"/>
    <p:sldId id="2145705951" r:id="rId5"/>
    <p:sldId id="2145705925" r:id="rId6"/>
    <p:sldId id="2145705952" r:id="rId7"/>
    <p:sldId id="2145705988" r:id="rId8"/>
    <p:sldId id="2145706025" r:id="rId9"/>
    <p:sldId id="2145706052" r:id="rId10"/>
    <p:sldId id="2145706005" r:id="rId11"/>
    <p:sldId id="2145706026" r:id="rId12"/>
    <p:sldId id="2145706028" r:id="rId13"/>
    <p:sldId id="2145705990" r:id="rId14"/>
    <p:sldId id="2145705991" r:id="rId15"/>
    <p:sldId id="2145705978" r:id="rId16"/>
    <p:sldId id="2145706029" r:id="rId17"/>
    <p:sldId id="2145706031" r:id="rId18"/>
    <p:sldId id="2145706053" r:id="rId19"/>
    <p:sldId id="2145706030" r:id="rId20"/>
    <p:sldId id="2145706037" r:id="rId21"/>
    <p:sldId id="2145706033" r:id="rId22"/>
    <p:sldId id="2145706034" r:id="rId23"/>
    <p:sldId id="2145706035" r:id="rId24"/>
    <p:sldId id="2145706038" r:id="rId25"/>
    <p:sldId id="2145706049" r:id="rId26"/>
    <p:sldId id="2145706039" r:id="rId27"/>
    <p:sldId id="2145706012" r:id="rId28"/>
    <p:sldId id="2145706040" r:id="rId29"/>
    <p:sldId id="2145706041" r:id="rId30"/>
    <p:sldId id="2145706051" r:id="rId31"/>
    <p:sldId id="2145706011" r:id="rId32"/>
    <p:sldId id="2145706050" r:id="rId33"/>
    <p:sldId id="2145706013" r:id="rId34"/>
    <p:sldId id="2145706042" r:id="rId35"/>
    <p:sldId id="2145706043" r:id="rId36"/>
    <p:sldId id="2145706016" r:id="rId37"/>
    <p:sldId id="2145706044" r:id="rId38"/>
    <p:sldId id="2145706045" r:id="rId39"/>
    <p:sldId id="2145706014" r:id="rId40"/>
    <p:sldId id="2145706046" r:id="rId41"/>
    <p:sldId id="2145706047" r:id="rId42"/>
    <p:sldId id="2145706015" r:id="rId43"/>
    <p:sldId id="2145706048" r:id="rId44"/>
    <p:sldId id="2145706004" r:id="rId45"/>
  </p:sldIdLst>
  <p:sldSz cx="18288000" cy="10287000"/>
  <p:notesSz cx="6858000" cy="9144000"/>
  <p:embeddedFontLst>
    <p:embeddedFont>
      <p:font typeface="Cascadia Mono" panose="020B0609020000020004" pitchFamily="49" charset="0"/>
      <p:regular r:id="rId47"/>
      <p:bold r:id="rId48"/>
      <p:italic r:id="rId49"/>
      <p:boldItalic r:id="rId5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290"/>
            <p14:sldId id="331"/>
            <p14:sldId id="294"/>
            <p14:sldId id="2145705951"/>
            <p14:sldId id="2145705925"/>
            <p14:sldId id="2145705952"/>
            <p14:sldId id="2145705988"/>
            <p14:sldId id="2145706025"/>
            <p14:sldId id="2145706052"/>
            <p14:sldId id="2145706005"/>
            <p14:sldId id="2145706026"/>
            <p14:sldId id="2145706028"/>
            <p14:sldId id="2145705990"/>
            <p14:sldId id="2145705991"/>
            <p14:sldId id="2145705978"/>
            <p14:sldId id="2145706029"/>
            <p14:sldId id="2145706031"/>
            <p14:sldId id="2145706053"/>
            <p14:sldId id="2145706030"/>
            <p14:sldId id="2145706037"/>
            <p14:sldId id="2145706033"/>
            <p14:sldId id="2145706034"/>
            <p14:sldId id="2145706035"/>
            <p14:sldId id="2145706038"/>
            <p14:sldId id="2145706049"/>
            <p14:sldId id="2145706039"/>
            <p14:sldId id="2145706012"/>
            <p14:sldId id="2145706040"/>
            <p14:sldId id="2145706041"/>
            <p14:sldId id="2145706051"/>
            <p14:sldId id="2145706011"/>
            <p14:sldId id="2145706050"/>
            <p14:sldId id="2145706013"/>
            <p14:sldId id="2145706042"/>
            <p14:sldId id="2145706043"/>
            <p14:sldId id="2145706016"/>
            <p14:sldId id="2145706044"/>
            <p14:sldId id="2145706045"/>
            <p14:sldId id="2145706014"/>
            <p14:sldId id="2145706046"/>
            <p14:sldId id="2145706047"/>
            <p14:sldId id="2145706015"/>
            <p14:sldId id="2145706048"/>
            <p14:sldId id="2145706004"/>
          </p14:sldIdLst>
        </p14:section>
        <p14:section name="Default Section" id="{4A2A6805-F643-43CA-A264-483E695524C1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428" autoAdjust="0"/>
    <p:restoredTop sz="89150" autoAdjust="0"/>
  </p:normalViewPr>
  <p:slideViewPr>
    <p:cSldViewPr>
      <p:cViewPr>
        <p:scale>
          <a:sx n="50" d="100"/>
          <a:sy n="50" d="100"/>
        </p:scale>
        <p:origin x="725" y="2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font" Target="fonts/font1.fntdata"/><Relationship Id="rId50" Type="http://schemas.openxmlformats.org/officeDocument/2006/relationships/font" Target="fonts/font4.fntdata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font" Target="fonts/font2.fntdata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notesMaster" Target="notesMasters/notes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7F3D95-C6A4-4231-825D-6C7EF1D6A15A}" type="datetimeFigureOut">
              <a:rPr lang="en-US" smtClean="0"/>
              <a:t>8/12/2025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C2FD7-E7E2-4303-A14F-1AE6540A7D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712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CH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92626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68639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5861695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55DA-FFB3-CD96-49C7-13E5BD21E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D26C4-EB8E-F90B-B6B1-637DEBE50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0F57F-EAD8-D5E8-5D44-20FF564AF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38117-AC65-D396-6A73-AA306EAD6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1145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517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536360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63600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32042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206274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90155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917725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7969714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76001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 tv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TemplateViewSetting tvs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TemplateViewId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columns of a template and their setting value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TemplateColumnSettingValue tcsv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'TEMPLATE'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110430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990500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230054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19F7-E2DD-C321-295C-84BBBC9F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503-E601-0929-78FB-B6C64D79E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AE24E-F718-9012-D15E-DD5440E8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comment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ListRowComment lrc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attachment files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[FileName]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FileUrl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FileAttachment fa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ListItemId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667A2-657E-E247-49AE-886476D7C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864053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19F7-E2DD-C321-295C-84BBBC9F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503-E601-0929-78FB-B6C64D79E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AE24E-F718-9012-D15E-DD5440E8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comment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ListRowComment lrc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attachment files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[FileName]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FileUrl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FileAttachment fa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ListItemId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667A2-657E-E247-49AE-886476D7C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288002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system data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2754519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system data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882007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9854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1618082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244535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54041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251215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8099538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778387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1035058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49008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2546638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1325044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6445355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BECC3-2F9C-7525-028D-9555F3D4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D18DD-7638-501D-AAB9-79E382CC6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4F007-CA97-6512-0C20-C5E457CF9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40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permisions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scopes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 settings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current list members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ListMemberPermission lmp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AC75-EC55-A7A8-0087-73657FB86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201849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642745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BECC3-2F9C-7525-028D-9555F3D4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D18DD-7638-501D-AAB9-79E382CC6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4F007-CA97-6512-0C20-C5E457CF9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40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permisions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scopes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 settings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current list members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ListMemberPermission lmp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AC75-EC55-A7A8-0087-73657FB86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7772432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6D0E-3DFB-3CBE-9FE3-DEE6F766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C8F1-0B57-4A04-1A2C-AE8B2022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B7823-B6F6-5D02-C374-FAADDE7FB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SCREEN: TRASH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trash items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DeleteBy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DeletedAt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[Path]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TrashItem ti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ObjectType ot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57B96-95AA-0582-C762-3620C3342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589171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6D0E-3DFB-3CBE-9FE3-DEE6F766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C8F1-0B57-4A04-1A2C-AE8B2022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B7823-B6F6-5D02-C374-FAADDE7FB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SCREEN: TRASH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trash items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DeleteBy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DeletedAt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[Path]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TrashItem ti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ObjectType ot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57B96-95AA-0582-C762-3620C3342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668286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0447F-1CB7-04D9-0ABB-E37A0760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B055D-4B30-A59E-E929-5D5C47DDF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1A2DD-CFBC-9487-1529-1ED478A5C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2A52D-A0FB-6089-A27B-06DBDB730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85498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chemeClr val="tx2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3636000" y="5056442"/>
            <a:ext cx="11234289" cy="182111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42186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222616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753800" y="2943000"/>
            <a:ext cx="3888000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2723532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2295000"/>
            <a:ext cx="7848000" cy="7344000"/>
          </a:xfrm>
        </p:spPr>
        <p:txBody>
          <a:bodyPr anchor="t"/>
          <a:lstStyle>
            <a:lvl1pPr marL="938213" indent="-938213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938213" indent="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409472261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>
          <p15:clr>
            <a:srgbClr val="FBAE40"/>
          </p15:clr>
        </p15:guide>
        <p15:guide id="9" pos="270">
          <p15:clr>
            <a:srgbClr val="FBAE40"/>
          </p15:clr>
        </p15:guide>
        <p15:guide id="10" pos="3839">
          <p15:clr>
            <a:srgbClr val="FBAE40"/>
          </p15:clr>
        </p15:guide>
        <p15:guide id="11" orient="horz" pos="4047">
          <p15:clr>
            <a:srgbClr val="FBAE40"/>
          </p15:clr>
        </p15:guide>
        <p15:guide id="12" orient="horz" pos="963">
          <p15:clr>
            <a:srgbClr val="FBAE40"/>
          </p15:clr>
        </p15:guide>
        <p15:guide id="13" pos="3567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863511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2293145"/>
            <a:ext cx="16993800" cy="734853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9275514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881"/>
            <a:ext cx="169938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69938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709604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1" y="3240881"/>
            <a:ext cx="8171999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1" y="2295000"/>
            <a:ext cx="8171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68000" y="3240881"/>
            <a:ext cx="8174682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468000" y="2295000"/>
            <a:ext cx="8174682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60332400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1359">
          <p15:clr>
            <a:srgbClr val="FBAE40"/>
          </p15:clr>
        </p15:guide>
        <p15:guide id="21" pos="3974">
          <p15:clr>
            <a:srgbClr val="FBAE40"/>
          </p15:clr>
        </p15:guide>
        <p15:guide id="22" pos="3705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2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74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40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4080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17448196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210">
          <p15:clr>
            <a:srgbClr val="FBAE40"/>
          </p15:clr>
        </p15:guide>
        <p15:guide id="24" pos="4940">
          <p15:clr>
            <a:srgbClr val="FBAE40"/>
          </p15:clr>
        </p15:guide>
        <p15:guide id="25" pos="2740">
          <p15:clr>
            <a:srgbClr val="FBAE40"/>
          </p15:clr>
        </p15:guide>
        <p15:guide id="26" pos="2470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002"/>
            <a:ext cx="7848300" cy="640168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0" y="2295000"/>
            <a:ext cx="78483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097457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orient="horz" pos="1359">
          <p15:clr>
            <a:srgbClr val="FBAE40"/>
          </p15:clr>
        </p15:guide>
        <p15:guide id="22" pos="3568">
          <p15:clr>
            <a:srgbClr val="FBAE40"/>
          </p15:clr>
        </p15:guide>
        <p15:guide id="23" pos="384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2805688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2427931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242982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4590941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492">
          <p15:clr>
            <a:srgbClr val="FBAE40"/>
          </p15:clr>
        </p15:guide>
        <p15:guide id="24" pos="5762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872137" y="7697684"/>
            <a:ext cx="4767864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8369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7" y="3236120"/>
            <a:ext cx="5892534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7" y="2295000"/>
            <a:ext cx="5892534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88533" y="3236120"/>
            <a:ext cx="5887397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8533" y="2295000"/>
            <a:ext cx="588739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484682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>
          <p15:clr>
            <a:srgbClr val="FBAE40"/>
          </p15:clr>
        </p15:guide>
        <p15:guide id="20" pos="270">
          <p15:clr>
            <a:srgbClr val="FBAE40"/>
          </p15:clr>
        </p15:guide>
        <p15:guide id="21" orient="horz" pos="692">
          <p15:clr>
            <a:srgbClr val="FBAE40"/>
          </p15:clr>
        </p15:guide>
        <p15:guide id="22" orient="horz" pos="4049">
          <p15:clr>
            <a:srgbClr val="FBAE40"/>
          </p15:clr>
        </p15:guide>
        <p15:guide id="23" orient="horz" pos="1359">
          <p15:clr>
            <a:srgbClr val="FBAE40"/>
          </p15:clr>
        </p15:guide>
        <p15:guide id="24" pos="5490">
          <p15:clr>
            <a:srgbClr val="FBAE40"/>
          </p15:clr>
        </p15:guide>
        <p15:guide id="25" pos="5760">
          <p15:clr>
            <a:srgbClr val="FBAE40"/>
          </p15:clr>
        </p15:guide>
        <p15:guide id="26" pos="3018">
          <p15:clr>
            <a:srgbClr val="FBAE40"/>
          </p15:clr>
        </p15:guide>
        <p15:guide id="27" pos="2747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793781" y="2293145"/>
            <a:ext cx="7848903" cy="7344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96002" y="6395930"/>
            <a:ext cx="7198200" cy="3245752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96002" y="6357834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8062202" y="9438783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14224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pos="4112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2916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5212859"/>
            <a:ext cx="16994684" cy="442882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481423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2187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8288000" cy="10287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1647001"/>
            <a:ext cx="12960000" cy="1795767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62148" y="258927"/>
            <a:ext cx="2025852" cy="1026546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31548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>
          <p15:clr>
            <a:srgbClr val="FBAE40"/>
          </p15:clr>
        </p15:guide>
        <p15:guide id="4" pos="5715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6147926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9204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8447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9204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8447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4923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03416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3684274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7242598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894535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02334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37338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37338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76271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76271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77737265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3699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128894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979802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79802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431751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431751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1645370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997" y="3024000"/>
            <a:ext cx="7883916" cy="452817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997" y="2281238"/>
            <a:ext cx="788391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48000" y="2295000"/>
            <a:ext cx="3240000" cy="32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83997" y="4271291"/>
            <a:ext cx="7883916" cy="1709493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997" y="6803904"/>
            <a:ext cx="7883916" cy="2837778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8872465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576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16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874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516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8000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87487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874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7487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095890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3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47999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7999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3415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3415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3415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241822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41822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41822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41822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22262467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1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8000" y="2281237"/>
            <a:ext cx="16992000" cy="735776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368" y="10650900"/>
            <a:ext cx="6172200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5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916400" y="10650900"/>
            <a:ext cx="707232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5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6532422" y="529200"/>
            <a:ext cx="1107578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01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</p:sldLayoutIdLst>
  <p:transition spd="slow">
    <p:push dir="u"/>
  </p:transition>
  <p:hf sldNum="0" hdr="0" ftr="0" dt="0"/>
  <p:txStyles>
    <p:titleStyle>
      <a:lvl1pPr algn="l" defTabSz="1371600" rtl="0" eaLnBrk="1" latinLnBrk="0" hangingPunct="1">
        <a:lnSpc>
          <a:spcPct val="100000"/>
        </a:lnSpc>
        <a:spcBef>
          <a:spcPct val="0"/>
        </a:spcBef>
        <a:buNone/>
        <a:defRPr sz="4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40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81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62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02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243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notesSlide" Target="../notesSlides/notesSlide1.xml"/><Relationship Id="rId7" Type="http://schemas.openxmlformats.org/officeDocument/2006/relationships/image" Target="../media/image13.png"/><Relationship Id="rId12" Type="http://schemas.openxmlformats.org/officeDocument/2006/relationships/image" Target="../media/image18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7.xml"/><Relationship Id="rId6" Type="http://schemas.openxmlformats.org/officeDocument/2006/relationships/image" Target="../media/image12.jpg"/><Relationship Id="rId11" Type="http://schemas.openxmlformats.org/officeDocument/2006/relationships/image" Target="../media/image17.png"/><Relationship Id="rId5" Type="http://schemas.openxmlformats.org/officeDocument/2006/relationships/image" Target="../media/image1.emf"/><Relationship Id="rId10" Type="http://schemas.openxmlformats.org/officeDocument/2006/relationships/image" Target="../media/image16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8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8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8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8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4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8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8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8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8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8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8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8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2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0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bbv Software Services AG  |  </a:t>
            </a:r>
            <a:r>
              <a:rPr lang="en-CH"/>
              <a:t>Date</a:t>
            </a:r>
            <a:r>
              <a:rPr lang="en-US"/>
              <a:t>: 21/07/2025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Presentation on MS Lists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14393747" y="3520299"/>
            <a:ext cx="2604509" cy="789402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9144000" y="1647000"/>
            <a:ext cx="9144000" cy="864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8000" y="2333498"/>
            <a:ext cx="7848000" cy="7344000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Key Functionalities</a:t>
            </a:r>
          </a:p>
          <a:p>
            <a:r>
              <a:rPr lang="en-US" dirty="0"/>
              <a:t>Q&amp;A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647000"/>
            <a:ext cx="18288000" cy="324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What is MS Lists?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Introduction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7E9F1D8E-5CD6-669B-488D-B0394463E63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4559" t="-5617" r="31079" b="-2491"/>
          <a:stretch>
            <a:fillRect/>
          </a:stretch>
        </p:blipFill>
        <p:spPr>
          <a:xfrm>
            <a:off x="9144000" y="1647000"/>
            <a:ext cx="9144000" cy="8640000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E9E7B5-BDF1-4F3B-5DC4-0AD36B6113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003934" lvl="1" indent="-501968">
              <a:lnSpc>
                <a:spcPct val="10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MS List is a tool for managing structured lists of data</a:t>
            </a:r>
          </a:p>
          <a:p>
            <a:pPr marL="1003934" lvl="1" indent="-501968">
              <a:lnSpc>
                <a:spcPct val="10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Works like a simple table or database</a:t>
            </a:r>
          </a:p>
          <a:p>
            <a:pPr marL="1003934" lvl="1" indent="-501968">
              <a:lnSpc>
                <a:spcPct val="100000"/>
              </a:lnSpc>
              <a:buFont typeface="Arial"/>
              <a:buChar char="•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Let’s users:</a:t>
            </a:r>
          </a:p>
          <a:p>
            <a:pPr marL="2007869" lvl="2" indent="-669290">
              <a:lnSpc>
                <a:spcPct val="10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Create lists</a:t>
            </a:r>
          </a:p>
          <a:p>
            <a:pPr marL="2007869" lvl="2" indent="-669290">
              <a:lnSpc>
                <a:spcPct val="10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View data</a:t>
            </a:r>
          </a:p>
          <a:p>
            <a:pPr marL="2007869" lvl="2" indent="-669290">
              <a:lnSpc>
                <a:spcPct val="100000"/>
              </a:lnSpc>
              <a:buFont typeface="Arial"/>
              <a:buChar char="⚬"/>
            </a:pPr>
            <a:r>
              <a:rPr lang="en-US" sz="2800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Manage info clearly and easily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1DB2E-AD64-0680-8783-D12FD58E83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What is Microsoft Lists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5096EED-E4A7-AF91-27B1-EB89B3B3A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9916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D18B968-C584-8DAD-AD19-51B0EF3222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Key Functionalities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A8424D-E30A-CC8F-7CCA-CAC552D85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58858" y="1943100"/>
            <a:ext cx="10829142" cy="6957722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27CAB0-B37D-52A6-4426-B2C2E84419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7999" y="2740325"/>
            <a:ext cx="7316129" cy="4806348"/>
          </a:xfrm>
        </p:spPr>
        <p:txBody>
          <a:bodyPr wrap="square" anchor="t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/>
              <a:t>Create and Manage Lists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Columns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Manage List Items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Views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Conditional Formatting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Permissions and Sharing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Built-in Templates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2C62CE5-8D7B-3AB9-4C63-246726DC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Key Functionalities of MS Lists</a:t>
            </a:r>
          </a:p>
        </p:txBody>
      </p:sp>
    </p:spTree>
    <p:extLst>
      <p:ext uri="{BB962C8B-B14F-4D97-AF65-F5344CB8AC3E}">
        <p14:creationId xmlns:p14="http://schemas.microsoft.com/office/powerpoint/2010/main" val="13618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BC1C0016-F66F-876F-08C6-4F899C98CED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93" b="393"/>
          <a:stretch/>
        </p:blipFill>
        <p:spPr/>
      </p:pic>
    </p:spTree>
    <p:extLst>
      <p:ext uri="{BB962C8B-B14F-4D97-AF65-F5344CB8AC3E}">
        <p14:creationId xmlns:p14="http://schemas.microsoft.com/office/powerpoint/2010/main" val="350523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A59BDE6-57EE-5D6F-96B9-5154301079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52" y="1943100"/>
            <a:ext cx="17943096" cy="8248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348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928A99F2-D095-C49D-7E0D-E8600F2433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600" y="1866900"/>
            <a:ext cx="15392400" cy="804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423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864C-4583-CC29-9DF4-730C9092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E6482B54-9CF4-9EAB-0CED-7385EC256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Dashboard Screen</a:t>
            </a:r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2B86943-B0BF-13C0-910C-8993D5B0E2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2911" y="1485900"/>
            <a:ext cx="12862178" cy="880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186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A5A31C3-A814-F272-7897-E624930E17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5400" y="1753680"/>
            <a:ext cx="9610791" cy="8525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509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Dashboard Screen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CE522D-FC08-5E14-A428-8621608818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600" y="1866900"/>
            <a:ext cx="15849600" cy="8051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5815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75D05D5-8EF3-D1EF-05D0-3886A1D7CF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52" y="1409700"/>
            <a:ext cx="17863095" cy="845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114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8B66F62-A4A8-0BF2-1167-BC69713095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64" y="1906080"/>
            <a:ext cx="16915272" cy="8373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05482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42DF2DA-3110-EDF2-97C0-8771CB47A3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1893" y="1485900"/>
            <a:ext cx="17484213" cy="86529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169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EAD8230-D831-3A53-A102-3D5F04D41D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7230" y="2476500"/>
            <a:ext cx="16273540" cy="7067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599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AC5E0C-2F35-C077-B8D9-3E6008F04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999" y="1485900"/>
            <a:ext cx="17081949" cy="853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1218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36B494-D380-AEE1-28D9-9AE95F8249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4900" y="1647000"/>
            <a:ext cx="16078200" cy="856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16605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CE567D92-9F41-9F54-8C66-F908EE61FBE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062" b="7062"/>
          <a:stretch/>
        </p:blipFill>
        <p:spPr/>
      </p:pic>
    </p:spTree>
    <p:extLst>
      <p:ext uri="{BB962C8B-B14F-4D97-AF65-F5344CB8AC3E}">
        <p14:creationId xmlns:p14="http://schemas.microsoft.com/office/powerpoint/2010/main" val="11187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6DA6-C8B0-C5C4-F8D5-75EA773E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16EFF65-BED0-97FB-2976-DB9AFB26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View &amp; Template Column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BDFC5B3D-8410-19F7-C701-7FA6A2E4CCF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0249" b="10249"/>
          <a:stretch/>
        </p:blipFill>
        <p:spPr/>
      </p:pic>
    </p:spTree>
    <p:extLst>
      <p:ext uri="{BB962C8B-B14F-4D97-AF65-F5344CB8AC3E}">
        <p14:creationId xmlns:p14="http://schemas.microsoft.com/office/powerpoint/2010/main" val="5681644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46534D-9489-2442-7625-D7017DEA3FA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788"/>
          <a:stretch/>
        </p:blipFill>
        <p:spPr>
          <a:xfrm>
            <a:off x="373737" y="1409700"/>
            <a:ext cx="17540526" cy="8248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1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0ABCE54-E25A-11F8-54B3-B0FFE2D95D3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053" b="5053"/>
          <a:stretch/>
        </p:blipFill>
        <p:spPr/>
      </p:pic>
    </p:spTree>
    <p:extLst>
      <p:ext uri="{BB962C8B-B14F-4D97-AF65-F5344CB8AC3E}">
        <p14:creationId xmlns:p14="http://schemas.microsoft.com/office/powerpoint/2010/main" val="37626786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AE94-9C99-2013-F9F0-3E2755DD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5C2F91-A801-434C-A0DF-099E4FFF5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Row Detail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49F994B-1D51-6490-93B8-8D204B2F7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668" y="2095500"/>
            <a:ext cx="17598664" cy="784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865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AE94-9C99-2013-F9F0-3E2755DD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5C2F91-A801-434C-A0DF-099E4FFF5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Row Detail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24162356-2EF8-B265-AF7F-04EE50B2E3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8521" b="8521"/>
          <a:stretch/>
        </p:blipFill>
        <p:spPr/>
      </p:pic>
    </p:spTree>
    <p:extLst>
      <p:ext uri="{BB962C8B-B14F-4D97-AF65-F5344CB8AC3E}">
        <p14:creationId xmlns:p14="http://schemas.microsoft.com/office/powerpoint/2010/main" val="2274715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List Dynamic Column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F9CBE3FC-76CD-142F-807D-232F09C1884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538" r="538"/>
          <a:stretch/>
        </p:blipFill>
        <p:spPr/>
      </p:pic>
    </p:spTree>
    <p:extLst>
      <p:ext uri="{BB962C8B-B14F-4D97-AF65-F5344CB8AC3E}">
        <p14:creationId xmlns:p14="http://schemas.microsoft.com/office/powerpoint/2010/main" val="16080119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List Dynamic Column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DE948695-13D6-8DDA-C631-49AB982CE2A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6299" b="6299"/>
          <a:stretch/>
        </p:blipFill>
        <p:spPr/>
      </p:pic>
    </p:spTree>
    <p:extLst>
      <p:ext uri="{BB962C8B-B14F-4D97-AF65-F5344CB8AC3E}">
        <p14:creationId xmlns:p14="http://schemas.microsoft.com/office/powerpoint/2010/main" val="3546749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755ABE1A-580A-B808-5AAC-FE4B72F39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8269" b="8269"/>
          <a:stretch/>
        </p:blipFill>
        <p:spPr/>
      </p:pic>
    </p:spTree>
    <p:extLst>
      <p:ext uri="{BB962C8B-B14F-4D97-AF65-F5344CB8AC3E}">
        <p14:creationId xmlns:p14="http://schemas.microsoft.com/office/powerpoint/2010/main" val="585905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14CBDC69-0690-1BD7-47C7-618F695156D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4422" r="4422"/>
          <a:stretch/>
        </p:blipFill>
        <p:spPr/>
      </p:pic>
    </p:spTree>
    <p:extLst>
      <p:ext uri="{BB962C8B-B14F-4D97-AF65-F5344CB8AC3E}">
        <p14:creationId xmlns:p14="http://schemas.microsoft.com/office/powerpoint/2010/main" val="9589406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A1BB915C-6F94-AC9A-9E1A-5FADB7C2918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996" b="1996"/>
          <a:stretch/>
        </p:blipFill>
        <p:spPr/>
      </p:pic>
    </p:spTree>
    <p:extLst>
      <p:ext uri="{BB962C8B-B14F-4D97-AF65-F5344CB8AC3E}">
        <p14:creationId xmlns:p14="http://schemas.microsoft.com/office/powerpoint/2010/main" val="1383631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Dynamic Column Setting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DA7A477-BE4A-A724-3F0F-F7BC799B2F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97380"/>
            <a:ext cx="6735764" cy="786276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745646A-28AB-7D16-7C5D-DDE3529511F7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5918" r="4733"/>
          <a:stretch/>
        </p:blipFill>
        <p:spPr>
          <a:xfrm>
            <a:off x="6248400" y="2545080"/>
            <a:ext cx="11279903" cy="586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009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Placeholder 21">
            <a:extLst>
              <a:ext uri="{FF2B5EF4-FFF2-40B4-BE49-F238E27FC236}">
                <a16:creationId xmlns:a16="http://schemas.microsoft.com/office/drawing/2014/main" id="{DE8C7411-AEF6-D5EA-1799-468AC927FE2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045" b="2045"/>
          <a:stretch/>
        </p:blipFill>
        <p:spPr/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/>
              <a:t>System </a:t>
            </a:r>
            <a:r>
              <a:rPr lang="en-US" dirty="0"/>
              <a:t>Column</a:t>
            </a:r>
          </a:p>
        </p:txBody>
      </p:sp>
    </p:spTree>
    <p:extLst>
      <p:ext uri="{BB962C8B-B14F-4D97-AF65-F5344CB8AC3E}">
        <p14:creationId xmlns:p14="http://schemas.microsoft.com/office/powerpoint/2010/main" val="3671213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/>
              <a:t>System </a:t>
            </a:r>
            <a:r>
              <a:rPr lang="en-US" dirty="0"/>
              <a:t>Column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F715DD8-28C1-CD0F-1DB2-0498EEE0A77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716" b="2716"/>
          <a:stretch/>
        </p:blipFill>
        <p:spPr/>
      </p:pic>
    </p:spTree>
    <p:extLst>
      <p:ext uri="{BB962C8B-B14F-4D97-AF65-F5344CB8AC3E}">
        <p14:creationId xmlns:p14="http://schemas.microsoft.com/office/powerpoint/2010/main" val="2579691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904C3DAC-A0C0-D8E6-39CD-98A246CCD10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543" b="3543"/>
          <a:stretch/>
        </p:blipFill>
        <p:spPr/>
      </p:pic>
    </p:spTree>
    <p:extLst>
      <p:ext uri="{BB962C8B-B14F-4D97-AF65-F5344CB8AC3E}">
        <p14:creationId xmlns:p14="http://schemas.microsoft.com/office/powerpoint/2010/main" val="326504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7FDD03F5-C089-A145-0F38-70C4AADD97C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677" b="2677"/>
          <a:stretch/>
        </p:blipFill>
        <p:spPr>
          <a:xfrm>
            <a:off x="-12700" y="1652588"/>
            <a:ext cx="18288000" cy="8640762"/>
          </a:xfrm>
        </p:spPr>
      </p:pic>
    </p:spTree>
    <p:extLst>
      <p:ext uri="{BB962C8B-B14F-4D97-AF65-F5344CB8AC3E}">
        <p14:creationId xmlns:p14="http://schemas.microsoft.com/office/powerpoint/2010/main" val="15483829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199E70D8-6424-DF68-676C-191382451D9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143" b="2143"/>
          <a:stretch/>
        </p:blipFill>
        <p:spPr/>
      </p:pic>
    </p:spTree>
    <p:extLst>
      <p:ext uri="{BB962C8B-B14F-4D97-AF65-F5344CB8AC3E}">
        <p14:creationId xmlns:p14="http://schemas.microsoft.com/office/powerpoint/2010/main" val="33756474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9" name="Picture Placeholder 18">
            <a:extLst>
              <a:ext uri="{FF2B5EF4-FFF2-40B4-BE49-F238E27FC236}">
                <a16:creationId xmlns:a16="http://schemas.microsoft.com/office/drawing/2014/main" id="{36F41067-6A9B-248C-BB16-9376D2F935F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9107" b="9107"/>
          <a:stretch/>
        </p:blipFill>
        <p:spPr>
          <a:xfrm>
            <a:off x="343199" y="1647000"/>
            <a:ext cx="17640001" cy="8333859"/>
          </a:xfrm>
        </p:spPr>
      </p:pic>
    </p:spTree>
    <p:extLst>
      <p:ext uri="{BB962C8B-B14F-4D97-AF65-F5344CB8AC3E}">
        <p14:creationId xmlns:p14="http://schemas.microsoft.com/office/powerpoint/2010/main" val="2498698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3" name="Picture Placeholder 12">
            <a:extLst>
              <a:ext uri="{FF2B5EF4-FFF2-40B4-BE49-F238E27FC236}">
                <a16:creationId xmlns:a16="http://schemas.microsoft.com/office/drawing/2014/main" id="{52898742-7D9C-D455-5500-44DD47434F2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652" b="7652"/>
          <a:stretch/>
        </p:blipFill>
        <p:spPr/>
      </p:pic>
    </p:spTree>
    <p:extLst>
      <p:ext uri="{BB962C8B-B14F-4D97-AF65-F5344CB8AC3E}">
        <p14:creationId xmlns:p14="http://schemas.microsoft.com/office/powerpoint/2010/main" val="1262311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1A595C8-E79E-8379-CEA2-2F0E17291A2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128" b="5128"/>
          <a:stretch/>
        </p:blipFill>
        <p:spPr/>
      </p:pic>
    </p:spTree>
    <p:extLst>
      <p:ext uri="{BB962C8B-B14F-4D97-AF65-F5344CB8AC3E}">
        <p14:creationId xmlns:p14="http://schemas.microsoft.com/office/powerpoint/2010/main" val="23786524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D3D6D-3269-CDC4-C6FE-1DF37517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D31A76-AF79-E867-F1D8-269AF3EBA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F1BAD030-CA51-21DD-C902-F7F1CA193A1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971" b="7971"/>
          <a:stretch/>
        </p:blipFill>
        <p:spPr/>
      </p:pic>
    </p:spTree>
    <p:extLst>
      <p:ext uri="{BB962C8B-B14F-4D97-AF65-F5344CB8AC3E}">
        <p14:creationId xmlns:p14="http://schemas.microsoft.com/office/powerpoint/2010/main" val="377918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1295BF0-07FF-D388-E5F8-53D9BECB2B2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5136" b="5136"/>
          <a:stretch/>
        </p:blipFill>
        <p:spPr/>
      </p:pic>
    </p:spTree>
    <p:extLst>
      <p:ext uri="{BB962C8B-B14F-4D97-AF65-F5344CB8AC3E}">
        <p14:creationId xmlns:p14="http://schemas.microsoft.com/office/powerpoint/2010/main" val="3709399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D3D6D-3269-CDC4-C6FE-1DF37517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D31A76-AF79-E867-F1D8-269AF3EBA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147EB256-9E25-7464-493F-E10BB0BEDC7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434" r="434"/>
          <a:stretch/>
        </p:blipFill>
        <p:spPr/>
      </p:pic>
    </p:spTree>
    <p:extLst>
      <p:ext uri="{BB962C8B-B14F-4D97-AF65-F5344CB8AC3E}">
        <p14:creationId xmlns:p14="http://schemas.microsoft.com/office/powerpoint/2010/main" val="2598994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F2D4-EE8F-6712-04E7-235CC71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63DFA8A-0AB8-71E6-C1B2-00CA5215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Trash Screen</a:t>
            </a:r>
            <a:endParaRPr lang="en-US" dirty="0"/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5EF63BF3-67CF-E7C0-1D8D-D270A1045BA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675" r="675"/>
          <a:stretch/>
        </p:blipFill>
        <p:spPr/>
      </p:pic>
    </p:spTree>
    <p:extLst>
      <p:ext uri="{BB962C8B-B14F-4D97-AF65-F5344CB8AC3E}">
        <p14:creationId xmlns:p14="http://schemas.microsoft.com/office/powerpoint/2010/main" val="334640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F2D4-EE8F-6712-04E7-235CC71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63DFA8A-0AB8-71E6-C1B2-00CA5215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Trash Screen</a:t>
            </a:r>
            <a:endParaRPr lang="en-US" dirty="0"/>
          </a:p>
        </p:txBody>
      </p:sp>
      <p:pic>
        <p:nvPicPr>
          <p:cNvPr id="11" name="Picture Placeholder 10">
            <a:extLst>
              <a:ext uri="{FF2B5EF4-FFF2-40B4-BE49-F238E27FC236}">
                <a16:creationId xmlns:a16="http://schemas.microsoft.com/office/drawing/2014/main" id="{5FF37A8C-E777-75F5-FF3D-A62CCD4BB39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27" b="127"/>
          <a:stretch/>
        </p:blipFill>
        <p:spPr/>
      </p:pic>
    </p:spTree>
    <p:extLst>
      <p:ext uri="{BB962C8B-B14F-4D97-AF65-F5344CB8AC3E}">
        <p14:creationId xmlns:p14="http://schemas.microsoft.com/office/powerpoint/2010/main" val="25474112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3306-D96C-F23E-D98C-D03D1053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43EF90ED-AEED-A160-1BCE-A3CD84AD9E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43EF90ED-AEED-A160-1BCE-A3CD84AD9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9AC88A2-8CBC-9629-9F61-1ECA954DFD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28F7F58-5182-D291-B326-EF091C452E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013249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3017</TotalTime>
  <Words>5406</Words>
  <Application>Microsoft Office PowerPoint</Application>
  <PresentationFormat>Custom</PresentationFormat>
  <Paragraphs>1021</Paragraphs>
  <Slides>44</Slides>
  <Notes>42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50" baseType="lpstr">
      <vt:lpstr>Cascadia Mono</vt:lpstr>
      <vt:lpstr>Arial</vt:lpstr>
      <vt:lpstr>Calibri</vt:lpstr>
      <vt:lpstr>Aptos</vt:lpstr>
      <vt:lpstr>bbv template EN</vt:lpstr>
      <vt:lpstr>think-cell Slide</vt:lpstr>
      <vt:lpstr>Presentation on MS Lists Functionalities</vt:lpstr>
      <vt:lpstr>Agenda</vt:lpstr>
      <vt:lpstr>Introduction</vt:lpstr>
      <vt:lpstr>Introduction</vt:lpstr>
      <vt:lpstr>Key Functionalities</vt:lpstr>
      <vt:lpstr>Key Functionalities of MS Lists</vt:lpstr>
      <vt:lpstr>Dashboard Screen</vt:lpstr>
      <vt:lpstr>Dashboard Screen</vt:lpstr>
      <vt:lpstr>Dashboard Screen</vt:lpstr>
      <vt:lpstr>Dashboard Screen</vt:lpstr>
      <vt:lpstr>Dashboard Screen</vt:lpstr>
      <vt:lpstr>Dashboard Screen</vt:lpstr>
      <vt:lpstr>Create List Screen</vt:lpstr>
      <vt:lpstr>Create List From List Type</vt:lpstr>
      <vt:lpstr>Create List Screen</vt:lpstr>
      <vt:lpstr>Create List Screen</vt:lpstr>
      <vt:lpstr>Create List From Template</vt:lpstr>
      <vt:lpstr>Create List From Template</vt:lpstr>
      <vt:lpstr>Create List From Template</vt:lpstr>
      <vt:lpstr>Template View &amp; Template Column</vt:lpstr>
      <vt:lpstr>List Management</vt:lpstr>
      <vt:lpstr>List Management</vt:lpstr>
      <vt:lpstr>List Row Detail</vt:lpstr>
      <vt:lpstr>List Row Detail</vt:lpstr>
      <vt:lpstr>List Dynamic Column</vt:lpstr>
      <vt:lpstr>List Dynamic Column</vt:lpstr>
      <vt:lpstr>Dynamic Column Setting</vt:lpstr>
      <vt:lpstr>Dynamic Column Setting</vt:lpstr>
      <vt:lpstr>Dynamic Column Setting</vt:lpstr>
      <vt:lpstr>Dynamic Column Setting</vt:lpstr>
      <vt:lpstr>System Column</vt:lpstr>
      <vt:lpstr>System Column</vt:lpstr>
      <vt:lpstr>List View</vt:lpstr>
      <vt:lpstr>List View</vt:lpstr>
      <vt:lpstr>List View</vt:lpstr>
      <vt:lpstr>Manage Access</vt:lpstr>
      <vt:lpstr>Manage Access</vt:lpstr>
      <vt:lpstr>Manage Access</vt:lpstr>
      <vt:lpstr>Manage Access</vt:lpstr>
      <vt:lpstr>Manage Access</vt:lpstr>
      <vt:lpstr>Manage Access</vt:lpstr>
      <vt:lpstr>Trash Screen</vt:lpstr>
      <vt:lpstr>Trash Screen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Young Professional Internship Program</dc:title>
  <dc:creator>Dũng Trần</dc:creator>
  <cp:lastModifiedBy>Dũng Trần</cp:lastModifiedBy>
  <cp:revision>25</cp:revision>
  <dcterms:created xsi:type="dcterms:W3CDTF">2006-08-16T00:00:00Z</dcterms:created>
  <dcterms:modified xsi:type="dcterms:W3CDTF">2025-08-12T18:11:20Z</dcterms:modified>
  <dc:identifier>DAGuFyPGShM</dc:identifier>
</cp:coreProperties>
</file>
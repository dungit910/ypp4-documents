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7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8.xml" ContentType="application/vnd.openxmlformats-officedocument.presentationml.tags+xml"/>
  <Override PartName="/ppt/notesSlides/notesSlide5.xml" ContentType="application/vnd.openxmlformats-officedocument.presentationml.notesSlide+xml"/>
  <Override PartName="/ppt/tags/tag29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tags/tag30.xml" ContentType="application/vnd.openxmlformats-officedocument.presentationml.tags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tags/tag31.xml" ContentType="application/vnd.openxmlformats-officedocument.presentationml.tags+xml"/>
  <Override PartName="/ppt/notesSlides/notesSlide37.xml" ContentType="application/vnd.openxmlformats-officedocument.presentationml.notesSlide+xml"/>
  <Override PartName="/ppt/tags/tag32.xml" ContentType="application/vnd.openxmlformats-officedocument.presentationml.tags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</p:sldMasterIdLst>
  <p:notesMasterIdLst>
    <p:notesMasterId r:id="rId43"/>
  </p:notesMasterIdLst>
  <p:sldIdLst>
    <p:sldId id="321" r:id="rId3"/>
    <p:sldId id="330" r:id="rId4"/>
    <p:sldId id="290" r:id="rId5"/>
    <p:sldId id="331" r:id="rId6"/>
    <p:sldId id="294" r:id="rId7"/>
    <p:sldId id="2145705951" r:id="rId8"/>
    <p:sldId id="2145705925" r:id="rId9"/>
    <p:sldId id="2145705952" r:id="rId10"/>
    <p:sldId id="2145705988" r:id="rId11"/>
    <p:sldId id="2145706005" r:id="rId12"/>
    <p:sldId id="2145706025" r:id="rId13"/>
    <p:sldId id="2145706026" r:id="rId14"/>
    <p:sldId id="2145705990" r:id="rId15"/>
    <p:sldId id="2145706027" r:id="rId16"/>
    <p:sldId id="2145705991" r:id="rId17"/>
    <p:sldId id="2145706028" r:id="rId18"/>
    <p:sldId id="2145705978" r:id="rId19"/>
    <p:sldId id="2145706029" r:id="rId20"/>
    <p:sldId id="2145705992" r:id="rId21"/>
    <p:sldId id="2145705998" r:id="rId22"/>
    <p:sldId id="2145706019" r:id="rId23"/>
    <p:sldId id="2145706007" r:id="rId24"/>
    <p:sldId id="2145706008" r:id="rId25"/>
    <p:sldId id="2145706011" r:id="rId26"/>
    <p:sldId id="2145706021" r:id="rId27"/>
    <p:sldId id="2145706012" r:id="rId28"/>
    <p:sldId id="2145706023" r:id="rId29"/>
    <p:sldId id="2145706013" r:id="rId30"/>
    <p:sldId id="2145706017" r:id="rId31"/>
    <p:sldId id="2145706018" r:id="rId32"/>
    <p:sldId id="2145706014" r:id="rId33"/>
    <p:sldId id="2145706016" r:id="rId34"/>
    <p:sldId id="2145706022" r:id="rId35"/>
    <p:sldId id="2145706024" r:id="rId36"/>
    <p:sldId id="2145706015" r:id="rId37"/>
    <p:sldId id="2145706004" r:id="rId38"/>
    <p:sldId id="2145705823" r:id="rId39"/>
    <p:sldId id="2145705934" r:id="rId40"/>
    <p:sldId id="2145705791" r:id="rId41"/>
    <p:sldId id="2145705742" r:id="rId42"/>
  </p:sldIdLst>
  <p:sldSz cx="18288000" cy="10287000"/>
  <p:notesSz cx="6858000" cy="9144000"/>
  <p:embeddedFontLst>
    <p:embeddedFont>
      <p:font typeface="Cascadia Mono" panose="020B0609020000020004" pitchFamily="49" charset="0"/>
      <p:regular r:id="rId44"/>
      <p:bold r:id="rId45"/>
      <p:italic r:id="rId46"/>
      <p:boldItalic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145705951"/>
            <p14:sldId id="2145705925"/>
            <p14:sldId id="2145705952"/>
            <p14:sldId id="2145705988"/>
            <p14:sldId id="2145706005"/>
            <p14:sldId id="2145706025"/>
            <p14:sldId id="2145706026"/>
            <p14:sldId id="2145705990"/>
            <p14:sldId id="2145706027"/>
            <p14:sldId id="2145705991"/>
            <p14:sldId id="2145706028"/>
            <p14:sldId id="2145705978"/>
            <p14:sldId id="2145706029"/>
            <p14:sldId id="2145705992"/>
            <p14:sldId id="2145705998"/>
            <p14:sldId id="2145706019"/>
            <p14:sldId id="2145706007"/>
            <p14:sldId id="2145706008"/>
            <p14:sldId id="2145706011"/>
            <p14:sldId id="2145706021"/>
            <p14:sldId id="2145706012"/>
            <p14:sldId id="2145706023"/>
            <p14:sldId id="2145706013"/>
            <p14:sldId id="2145706017"/>
            <p14:sldId id="2145706018"/>
            <p14:sldId id="2145706014"/>
            <p14:sldId id="2145706016"/>
            <p14:sldId id="2145706022"/>
            <p14:sldId id="2145706024"/>
            <p14:sldId id="2145706015"/>
            <p14:sldId id="2145706004"/>
            <p14:sldId id="2145705823"/>
            <p14:sldId id="2145705934"/>
            <p14:sldId id="2145705791"/>
            <p14:sldId id="2145705742"/>
          </p14:sldIdLst>
        </p14:section>
        <p14:section name="Default Section" id="{4A2A6805-F643-43CA-A264-483E695524C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89150" autoAdjust="0"/>
  </p:normalViewPr>
  <p:slideViewPr>
    <p:cSldViewPr>
      <p:cViewPr varScale="1">
        <p:scale>
          <a:sx n="49" d="100"/>
          <a:sy n="49" d="100"/>
        </p:scale>
        <p:origin x="104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2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3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7F3D95-C6A4-4231-825D-6C7EF1D6A15A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C2FD7-E7E2-4303-A14F-1AE6540A7D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9262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55DA-FFB3-CD96-49C7-13E5BD21E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D26C4-EB8E-F90B-B6B1-637DEBE50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0F57F-EAD8-D5E8-5D44-20FF564AF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38117-AC65-D396-6A73-AA306EAD6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114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863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5178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6360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66910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32042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53636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20627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90155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5088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69594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33A3A-6ACC-AB08-E680-1ABEE3F68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9F422A-7A7A-11A9-17A0-8F3CA8AE9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E641E-7494-F124-EB41-351045A7C4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534E0-16BB-81FB-FD50-ECA5C0B420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9416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864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20054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2512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71600-1335-5F0E-9E0A-E271E66D4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7D4E5-D91A-3E34-6F44-FD73F4E2A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9FA8D-E17F-3200-B35B-E411E27C7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2208F-BFBB-563F-7208-942FE8D00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76854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985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4D124-AD52-D05F-48B0-9D77A512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54FB84-DDE4-EF79-0B16-8407A1C0B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2997B-7F9F-6ABB-B078-348784718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8FC66-8523-E2EA-FD1D-EE040E3C15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27015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77838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4CCA-C3B4-516C-25A0-F98631C06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5CE4A6-DE49-E700-5150-955A69E32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8BAD9F-4139-8F56-F348-DB3D094F07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DBC40-CBD7-A9E8-6C95-8D976F1C2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61065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45200-00AD-0C3B-E9EF-616CEAC02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19716-02C8-0F1D-00E4-9257777E4F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01E8D-9E80-A4EB-AA21-B96559929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93D24-BE39-C590-93B8-C38EEF31F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50308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20184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25466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701D4-58A9-7CEE-FCEC-DD3E9FBC5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3240BA-C427-A255-9D70-005CB5F23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A3D27-537B-60ED-DFB6-AC7EFF9C4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9981E-B4A0-7010-8754-B98F8DA88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659455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47317-0955-6CA9-57BF-464D15FBA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67AB7-32E5-AF3F-1F38-02C0C6E0A5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835A5D-BEBB-0C42-CE71-39414A4A3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890C3-32FC-6F53-F29B-38C21B026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570550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589171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0447F-1CB7-04D9-0ABB-E37A0760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B055D-4B30-A59E-E929-5D5C47DDF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1A2DD-CFBC-9487-1529-1ED478A5C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2A52D-A0FB-6089-A27B-06DBDB73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5498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6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chemeClr val="tx2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3636000" y="5056442"/>
            <a:ext cx="11234289" cy="182111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42186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222616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753800" y="2943000"/>
            <a:ext cx="3888000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723532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2295000"/>
            <a:ext cx="7848000" cy="7344000"/>
          </a:xfrm>
        </p:spPr>
        <p:txBody>
          <a:bodyPr anchor="t"/>
          <a:lstStyle>
            <a:lvl1pPr marL="938213" indent="-938213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938213" indent="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409472261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>
          <p15:clr>
            <a:srgbClr val="FBAE40"/>
          </p15:clr>
        </p15:guide>
        <p15:guide id="9" pos="270">
          <p15:clr>
            <a:srgbClr val="FBAE40"/>
          </p15:clr>
        </p15:guide>
        <p15:guide id="10" pos="3839">
          <p15:clr>
            <a:srgbClr val="FBAE40"/>
          </p15:clr>
        </p15:guide>
        <p15:guide id="11" orient="horz" pos="4047">
          <p15:clr>
            <a:srgbClr val="FBAE40"/>
          </p15:clr>
        </p15:guide>
        <p15:guide id="12" orient="horz" pos="963">
          <p15:clr>
            <a:srgbClr val="FBAE40"/>
          </p15:clr>
        </p15:guide>
        <p15:guide id="13" pos="356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863511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2293145"/>
            <a:ext cx="16993800" cy="734853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9275514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881"/>
            <a:ext cx="169938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69938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709604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1" y="3240881"/>
            <a:ext cx="8171999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1" y="2295000"/>
            <a:ext cx="8171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68000" y="3240881"/>
            <a:ext cx="8174682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468000" y="2295000"/>
            <a:ext cx="8174682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60332400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1359">
          <p15:clr>
            <a:srgbClr val="FBAE40"/>
          </p15:clr>
        </p15:guide>
        <p15:guide id="21" pos="3974">
          <p15:clr>
            <a:srgbClr val="FBAE40"/>
          </p15:clr>
        </p15:guide>
        <p15:guide id="22" pos="3705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2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74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40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4080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17448196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210">
          <p15:clr>
            <a:srgbClr val="FBAE40"/>
          </p15:clr>
        </p15:guide>
        <p15:guide id="24" pos="4940">
          <p15:clr>
            <a:srgbClr val="FBAE40"/>
          </p15:clr>
        </p15:guide>
        <p15:guide id="25" pos="2740">
          <p15:clr>
            <a:srgbClr val="FBAE40"/>
          </p15:clr>
        </p15:guide>
        <p15:guide id="26" pos="247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002"/>
            <a:ext cx="7848300" cy="640168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0" y="2295000"/>
            <a:ext cx="78483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097457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orient="horz" pos="1359">
          <p15:clr>
            <a:srgbClr val="FBAE40"/>
          </p15:clr>
        </p15:guide>
        <p15:guide id="22" pos="3568">
          <p15:clr>
            <a:srgbClr val="FBAE40"/>
          </p15:clr>
        </p15:guide>
        <p15:guide id="23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2805688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2427931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242982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4590941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492">
          <p15:clr>
            <a:srgbClr val="FBAE40"/>
          </p15:clr>
        </p15:guide>
        <p15:guide id="24" pos="5762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872137" y="7697684"/>
            <a:ext cx="4767864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8369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7" y="3236120"/>
            <a:ext cx="5892534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7" y="2295000"/>
            <a:ext cx="5892534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8533" y="3236120"/>
            <a:ext cx="5887397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8533" y="2295000"/>
            <a:ext cx="588739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484682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>
          <p15:clr>
            <a:srgbClr val="FBAE40"/>
          </p15:clr>
        </p15:guide>
        <p15:guide id="20" pos="270">
          <p15:clr>
            <a:srgbClr val="FBAE40"/>
          </p15:clr>
        </p15:guide>
        <p15:guide id="21" orient="horz" pos="692">
          <p15:clr>
            <a:srgbClr val="FBAE40"/>
          </p15:clr>
        </p15:guide>
        <p15:guide id="22" orient="horz" pos="4049">
          <p15:clr>
            <a:srgbClr val="FBAE40"/>
          </p15:clr>
        </p15:guide>
        <p15:guide id="23" orient="horz" pos="1359">
          <p15:clr>
            <a:srgbClr val="FBAE40"/>
          </p15:clr>
        </p15:guide>
        <p15:guide id="24" pos="5490">
          <p15:clr>
            <a:srgbClr val="FBAE40"/>
          </p15:clr>
        </p15:guide>
        <p15:guide id="25" pos="5760">
          <p15:clr>
            <a:srgbClr val="FBAE40"/>
          </p15:clr>
        </p15:guide>
        <p15:guide id="26" pos="3018">
          <p15:clr>
            <a:srgbClr val="FBAE40"/>
          </p15:clr>
        </p15:guide>
        <p15:guide id="27" pos="274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793781" y="2293145"/>
            <a:ext cx="7848903" cy="7344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96002" y="6395930"/>
            <a:ext cx="7198200" cy="3245752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96002" y="6357834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8062202" y="9438783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14224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pos="411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2916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5212859"/>
            <a:ext cx="16994684" cy="442882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481423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2187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8288000" cy="10287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1647001"/>
            <a:ext cx="12960000" cy="1795767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62148" y="258927"/>
            <a:ext cx="2025852" cy="1026546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31548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>
          <p15:clr>
            <a:srgbClr val="FBAE40"/>
          </p15:clr>
        </p15:guide>
        <p15:guide id="4" pos="5715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6147926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9204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8447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9204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447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4923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03416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3684274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7242598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94535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02334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37338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37338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76271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6271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77737265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3699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128894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979802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79802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431751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431751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1645370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997" y="3024000"/>
            <a:ext cx="7883916" cy="452817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997" y="2281238"/>
            <a:ext cx="788391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8000" y="2295000"/>
            <a:ext cx="3240000" cy="32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83997" y="4271291"/>
            <a:ext cx="7883916" cy="1709493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997" y="6803904"/>
            <a:ext cx="7883916" cy="2837778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8872465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576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16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874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516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8000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87487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874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7487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095890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3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47999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7999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3415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415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415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41822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41822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41822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41822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22262467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tags" Target="../tags/tag1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0" y="2281237"/>
            <a:ext cx="16992000" cy="73577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368" y="10650900"/>
            <a:ext cx="6172200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5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916400" y="10650900"/>
            <a:ext cx="707232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5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6532422" y="529200"/>
            <a:ext cx="1107578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0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transition spd="slow">
    <p:push dir="u"/>
  </p:transition>
  <p:hf sldNum="0" hdr="0" ftr="0" dt="0"/>
  <p:txStyles>
    <p:titleStyle>
      <a:lvl1pPr algn="l" defTabSz="1371600" rtl="0" eaLnBrk="1" latinLnBrk="0" hangingPunct="1">
        <a:lnSpc>
          <a:spcPct val="100000"/>
        </a:lnSpc>
        <a:spcBef>
          <a:spcPct val="0"/>
        </a:spcBef>
        <a:buNone/>
        <a:defRPr sz="4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40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81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62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02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43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14.xml"/><Relationship Id="rId1" Type="http://schemas.openxmlformats.org/officeDocument/2006/relationships/tags" Target="../tags/tag27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8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9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0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emf"/><Relationship Id="rId3" Type="http://schemas.openxmlformats.org/officeDocument/2006/relationships/notesSlide" Target="../notesSlides/notesSlide37.xml"/><Relationship Id="rId7" Type="http://schemas.openxmlformats.org/officeDocument/2006/relationships/image" Target="../media/image54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1.xml"/><Relationship Id="rId6" Type="http://schemas.openxmlformats.org/officeDocument/2006/relationships/image" Target="../media/image53.png"/><Relationship Id="rId5" Type="http://schemas.openxmlformats.org/officeDocument/2006/relationships/image" Target="../media/image52.emf"/><Relationship Id="rId4" Type="http://schemas.openxmlformats.org/officeDocument/2006/relationships/oleObject" Target="../embeddings/oleObject29.bin"/><Relationship Id="rId9" Type="http://schemas.openxmlformats.org/officeDocument/2006/relationships/image" Target="../media/image5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5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58.png"/><Relationship Id="rId5" Type="http://schemas.openxmlformats.org/officeDocument/2006/relationships/image" Target="../media/image57.emf"/><Relationship Id="rId4" Type="http://schemas.openxmlformats.org/officeDocument/2006/relationships/oleObject" Target="../embeddings/oleObject30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</a:t>
            </a:r>
            <a:r>
              <a:rPr lang="en-GB"/>
              <a:t>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Ypp 4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bbv Software Services AG  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Presentation on MS Lists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14393747" y="3520299"/>
            <a:ext cx="2604509" cy="789402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9144000" y="1647000"/>
            <a:ext cx="9144000" cy="864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8000" y="2333498"/>
            <a:ext cx="7848000" cy="7344000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Key Functionalities</a:t>
            </a:r>
          </a:p>
          <a:p>
            <a:r>
              <a:rPr lang="en-US" dirty="0"/>
              <a:t>Q&amp;A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647000"/>
            <a:ext cx="18288000" cy="324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What is MS Lists?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Introduction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E9F1D8E-5CD6-669B-488D-B0394463E63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4559" t="-5617" r="31079" b="-2491"/>
          <a:stretch>
            <a:fillRect/>
          </a:stretch>
        </p:blipFill>
        <p:spPr>
          <a:xfrm>
            <a:off x="9144000" y="1647000"/>
            <a:ext cx="9144000" cy="8640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E9E7B5-BDF1-4F3B-5DC4-0AD36B6113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MS List is a tool for managing structured lists of data</a:t>
            </a:r>
          </a:p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Works like a simple table or database</a:t>
            </a:r>
          </a:p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Let’s users: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Create lists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View data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Manage info clearly and easily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1DB2E-AD64-0680-8783-D12FD58E8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What is Microsoft Lists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096EED-E4A7-AF91-27B1-EB89B3B3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991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Key Functionalities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A8424D-E30A-CC8F-7CCA-CAC552D85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8858" y="1664639"/>
            <a:ext cx="10829142" cy="6957722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27CAB0-B37D-52A6-4426-B2C2E84419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7999" y="2740325"/>
            <a:ext cx="7316129" cy="4806348"/>
          </a:xfrm>
        </p:spPr>
        <p:txBody>
          <a:bodyPr wrap="square"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Create and Manage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Columns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Manage List Items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Views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Conditional Formatting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Permissions and Sharing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Built-in Templates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C62CE5-8D7B-3AB9-4C63-246726DC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Key Functionalities of MS Lists</a:t>
            </a:r>
          </a:p>
        </p:txBody>
      </p:sp>
    </p:spTree>
    <p:extLst>
      <p:ext uri="{BB962C8B-B14F-4D97-AF65-F5344CB8AC3E}">
        <p14:creationId xmlns:p14="http://schemas.microsoft.com/office/powerpoint/2010/main" val="13618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966F8B3D-7E59-7423-D60A-E56F9456754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171" b="1171"/>
          <a:stretch>
            <a:fillRect/>
          </a:stretch>
        </p:blipFill>
        <p:spPr>
          <a:xfrm>
            <a:off x="0" y="1646238"/>
            <a:ext cx="18288000" cy="864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3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864C-4583-CC29-9DF4-730C9092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6482B54-9CF4-9EAB-0CED-7385EC256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Dashboard Entities</a:t>
            </a:r>
          </a:p>
        </p:txBody>
      </p:sp>
      <p:pic>
        <p:nvPicPr>
          <p:cNvPr id="80" name="Picture Placeholder 79">
            <a:extLst>
              <a:ext uri="{FF2B5EF4-FFF2-40B4-BE49-F238E27FC236}">
                <a16:creationId xmlns:a16="http://schemas.microsoft.com/office/drawing/2014/main" id="{1CA424A7-5090-245F-1D78-00BBBD24103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028" b="2028"/>
          <a:stretch/>
        </p:blipFill>
        <p:spPr/>
      </p:pic>
    </p:spTree>
    <p:extLst>
      <p:ext uri="{BB962C8B-B14F-4D97-AF65-F5344CB8AC3E}">
        <p14:creationId xmlns:p14="http://schemas.microsoft.com/office/powerpoint/2010/main" val="384818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58D5B8-4BCE-F3FD-F2DB-AA51CF997B6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2" b="192"/>
          <a:stretch/>
        </p:blipFill>
        <p:spPr/>
      </p:pic>
    </p:spTree>
    <p:extLst>
      <p:ext uri="{BB962C8B-B14F-4D97-AF65-F5344CB8AC3E}">
        <p14:creationId xmlns:p14="http://schemas.microsoft.com/office/powerpoint/2010/main" val="3442348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76BBBD55-07DF-6EDE-006B-2FD4251C41B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606" b="3606"/>
          <a:stretch/>
        </p:blipFill>
        <p:spPr/>
      </p:pic>
    </p:spTree>
    <p:extLst>
      <p:ext uri="{BB962C8B-B14F-4D97-AF65-F5344CB8AC3E}">
        <p14:creationId xmlns:p14="http://schemas.microsoft.com/office/powerpoint/2010/main" val="4805094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148836-0D2D-E5BA-C795-DB2F2F3DC4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39114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6EBA56F1-64EB-28DA-C64E-3D66D4DA152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1849" r="1849"/>
          <a:stretch/>
        </p:blipFill>
        <p:spPr/>
      </p:pic>
    </p:spTree>
    <p:extLst>
      <p:ext uri="{BB962C8B-B14F-4D97-AF65-F5344CB8AC3E}">
        <p14:creationId xmlns:p14="http://schemas.microsoft.com/office/powerpoint/2010/main" val="685030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790497-41CA-ECB4-231B-C6FE0AA7039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0548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1575E8AB-139E-4342-264C-52A03C13907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485" b="3485"/>
          <a:stretch/>
        </p:blipFill>
        <p:spPr/>
      </p:pic>
    </p:spTree>
    <p:extLst>
      <p:ext uri="{BB962C8B-B14F-4D97-AF65-F5344CB8AC3E}">
        <p14:creationId xmlns:p14="http://schemas.microsoft.com/office/powerpoint/2010/main" val="20985815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0AC3EC-57F2-2BF4-87F3-8DD9EE81AFA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t="8009" b="8009"/>
          <a:stretch>
            <a:fillRect/>
          </a:stretch>
        </p:blipFill>
        <p:spPr>
          <a:xfrm>
            <a:off x="647999" y="1799400"/>
            <a:ext cx="16992003" cy="8210112"/>
          </a:xfrm>
        </p:spPr>
      </p:pic>
    </p:spTree>
    <p:extLst>
      <p:ext uri="{BB962C8B-B14F-4D97-AF65-F5344CB8AC3E}">
        <p14:creationId xmlns:p14="http://schemas.microsoft.com/office/powerpoint/2010/main" val="36416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4813B33-3F5F-153F-E137-495B389362D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2" b="2712"/>
          <a:stretch/>
        </p:blipFill>
        <p:spPr/>
      </p:pic>
    </p:spTree>
    <p:extLst>
      <p:ext uri="{BB962C8B-B14F-4D97-AF65-F5344CB8AC3E}">
        <p14:creationId xmlns:p14="http://schemas.microsoft.com/office/powerpoint/2010/main" val="2322599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3816069A-CD5A-11F5-CDE5-8360953CD5D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879" b="8879"/>
          <a:stretch/>
        </p:blipFill>
        <p:spPr/>
      </p:pic>
    </p:spTree>
    <p:extLst>
      <p:ext uri="{BB962C8B-B14F-4D97-AF65-F5344CB8AC3E}">
        <p14:creationId xmlns:p14="http://schemas.microsoft.com/office/powerpoint/2010/main" val="742914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4E7FB5-540E-7BB7-2F21-809ABB327FE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814" t="14163" r="-5814" b="11567"/>
          <a:stretch>
            <a:fillRect/>
          </a:stretch>
        </p:blipFill>
        <p:spPr>
          <a:xfrm>
            <a:off x="0" y="1647450"/>
            <a:ext cx="18288000" cy="8639100"/>
          </a:xfrm>
          <a:noFill/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</p:spTree>
    <p:extLst>
      <p:ext uri="{BB962C8B-B14F-4D97-AF65-F5344CB8AC3E}">
        <p14:creationId xmlns:p14="http://schemas.microsoft.com/office/powerpoint/2010/main" val="2562879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FC20-957F-E597-13A6-F543A870A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9D86470-0489-106E-14C9-D4696E677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Entities</a:t>
            </a:r>
          </a:p>
        </p:txBody>
      </p:sp>
      <p:pic>
        <p:nvPicPr>
          <p:cNvPr id="15" name="Picture Placeholder 14" descr="A diagram of a computer&#10;&#10;AI-generated content may be incorrect.">
            <a:extLst>
              <a:ext uri="{FF2B5EF4-FFF2-40B4-BE49-F238E27FC236}">
                <a16:creationId xmlns:a16="http://schemas.microsoft.com/office/drawing/2014/main" id="{48EFA83C-8081-CC55-481B-4BB20E5AAD96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4"/>
          <a:stretch>
            <a:fillRect/>
          </a:stretch>
        </p:blipFill>
        <p:spPr>
          <a:xfrm>
            <a:off x="647998" y="1647000"/>
            <a:ext cx="16992005" cy="6116118"/>
          </a:xfrm>
        </p:spPr>
      </p:pic>
    </p:spTree>
    <p:extLst>
      <p:ext uri="{BB962C8B-B14F-4D97-AF65-F5344CB8AC3E}">
        <p14:creationId xmlns:p14="http://schemas.microsoft.com/office/powerpoint/2010/main" val="3678948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945676-F6C4-7CD7-F98C-94A0F487CCC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18"/>
          <a:stretch>
            <a:fillRect/>
          </a:stretch>
        </p:blipFill>
        <p:spPr>
          <a:xfrm>
            <a:off x="647998" y="1647000"/>
            <a:ext cx="16992005" cy="8027718"/>
          </a:xfrm>
        </p:spPr>
      </p:pic>
    </p:spTree>
    <p:extLst>
      <p:ext uri="{BB962C8B-B14F-4D97-AF65-F5344CB8AC3E}">
        <p14:creationId xmlns:p14="http://schemas.microsoft.com/office/powerpoint/2010/main" val="2065409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39445B-7E5C-1C02-5061-D619D35E510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1" t="21596" r="2142" b="5607"/>
          <a:stretch>
            <a:fillRect/>
          </a:stretch>
        </p:blipFill>
        <p:spPr>
          <a:xfrm>
            <a:off x="648000" y="1647001"/>
            <a:ext cx="16992003" cy="7288340"/>
          </a:xfrm>
        </p:spPr>
      </p:pic>
    </p:spTree>
    <p:extLst>
      <p:ext uri="{BB962C8B-B14F-4D97-AF65-F5344CB8AC3E}">
        <p14:creationId xmlns:p14="http://schemas.microsoft.com/office/powerpoint/2010/main" val="3849953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</a:t>
            </a:r>
          </a:p>
        </p:txBody>
      </p:sp>
      <p:pic>
        <p:nvPicPr>
          <p:cNvPr id="11" name="Picture Placeholder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D913B1-935B-382A-D64F-8C493FA4D37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71213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41D4A-5197-4EE0-99C6-D16E6E33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61D64CC-BB0C-D2E7-5CB6-549EA6FE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Entities</a:t>
            </a:r>
          </a:p>
        </p:txBody>
      </p:sp>
      <p:pic>
        <p:nvPicPr>
          <p:cNvPr id="10" name="Picture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77D46F-883A-4E43-C570-DBE431B0FE4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44"/>
          <a:stretch>
            <a:fillRect/>
          </a:stretch>
        </p:blipFill>
        <p:spPr>
          <a:xfrm>
            <a:off x="647999" y="1647002"/>
            <a:ext cx="16878003" cy="6135363"/>
          </a:xfrm>
        </p:spPr>
      </p:pic>
    </p:spTree>
    <p:extLst>
      <p:ext uri="{BB962C8B-B14F-4D97-AF65-F5344CB8AC3E}">
        <p14:creationId xmlns:p14="http://schemas.microsoft.com/office/powerpoint/2010/main" val="221947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 Setting</a:t>
            </a:r>
          </a:p>
        </p:txBody>
      </p:sp>
      <p:pic>
        <p:nvPicPr>
          <p:cNvPr id="11" name="Picture Placeholder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73A998-350F-4FF5-0F36-2B884A7F75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85905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651FE-27B2-BD9A-75FF-96FAB6CC5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45AC86-4383-E46B-9025-7140C3927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 Setting Entities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0B1A061-7F46-8518-F702-6C65407587B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-184" b="566"/>
          <a:stretch>
            <a:fillRect/>
          </a:stretch>
        </p:blipFill>
        <p:spPr>
          <a:xfrm>
            <a:off x="647998" y="1647000"/>
            <a:ext cx="16992005" cy="6985947"/>
          </a:xfrm>
        </p:spPr>
      </p:pic>
    </p:spTree>
    <p:extLst>
      <p:ext uri="{BB962C8B-B14F-4D97-AF65-F5344CB8AC3E}">
        <p14:creationId xmlns:p14="http://schemas.microsoft.com/office/powerpoint/2010/main" val="1673076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5" name="Picture Placeholder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F1F8A1-2CF5-CB8C-F068-4B27AAB82B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7" r="180"/>
          <a:stretch>
            <a:fillRect/>
          </a:stretch>
        </p:blipFill>
        <p:spPr>
          <a:xfrm>
            <a:off x="3069772" y="1647000"/>
            <a:ext cx="12148457" cy="8640000"/>
          </a:xfrm>
        </p:spPr>
      </p:pic>
    </p:spTree>
    <p:extLst>
      <p:ext uri="{BB962C8B-B14F-4D97-AF65-F5344CB8AC3E}">
        <p14:creationId xmlns:p14="http://schemas.microsoft.com/office/powerpoint/2010/main" val="326504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687D-585A-D598-01E2-2F6EFA9F7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D5A7C6D-E99A-546E-A5A6-394C7A2EB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 Entities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30F6A0-CE23-0619-E321-B7F040286C1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130"/>
          <a:stretch>
            <a:fillRect/>
          </a:stretch>
        </p:blipFill>
        <p:spPr>
          <a:xfrm>
            <a:off x="647998" y="1647002"/>
            <a:ext cx="16986860" cy="7186056"/>
          </a:xfrm>
        </p:spPr>
      </p:pic>
    </p:spTree>
    <p:extLst>
      <p:ext uri="{BB962C8B-B14F-4D97-AF65-F5344CB8AC3E}">
        <p14:creationId xmlns:p14="http://schemas.microsoft.com/office/powerpoint/2010/main" val="98399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E945-4E22-B789-684A-201150198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AAD71D-C359-19F2-4466-45BA7C207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 Sample Data</a:t>
            </a:r>
          </a:p>
        </p:txBody>
      </p:sp>
      <p:pic>
        <p:nvPicPr>
          <p:cNvPr id="4" name="Picture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D55256-DB90-15B6-29C3-00DA194F69F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417"/>
          <a:stretch>
            <a:fillRect/>
          </a:stretch>
        </p:blipFill>
        <p:spPr>
          <a:xfrm>
            <a:off x="647998" y="1647000"/>
            <a:ext cx="16992005" cy="5286747"/>
          </a:xfrm>
        </p:spPr>
      </p:pic>
    </p:spTree>
    <p:extLst>
      <p:ext uri="{BB962C8B-B14F-4D97-AF65-F5344CB8AC3E}">
        <p14:creationId xmlns:p14="http://schemas.microsoft.com/office/powerpoint/2010/main" val="4177852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6" name="Picture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A6299011-E8CA-ECA8-EC51-11439714D8B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7918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4" name="Picture Placeholder 3" descr="A screenshot of a chat&#10;&#10;AI-generated content may be incorrect.">
            <a:extLst>
              <a:ext uri="{FF2B5EF4-FFF2-40B4-BE49-F238E27FC236}">
                <a16:creationId xmlns:a16="http://schemas.microsoft.com/office/drawing/2014/main" id="{A2D34B8B-3887-EBFA-4D46-8D706754969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9869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46274-33D8-1813-1409-C7BB7617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F0FAEAA-EE44-CEEB-4EF5-CF4A3D02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 Entities</a:t>
            </a:r>
          </a:p>
        </p:txBody>
      </p:sp>
      <p:pic>
        <p:nvPicPr>
          <p:cNvPr id="5" name="Picture Placeholder 4" descr="A diagram of a data flow&#10;&#10;AI-generated content may be incorrect.">
            <a:extLst>
              <a:ext uri="{FF2B5EF4-FFF2-40B4-BE49-F238E27FC236}">
                <a16:creationId xmlns:a16="http://schemas.microsoft.com/office/drawing/2014/main" id="{18C207E9-9D6E-DD67-DB19-1515B410C52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8" r="205"/>
          <a:stretch>
            <a:fillRect/>
          </a:stretch>
        </p:blipFill>
        <p:spPr>
          <a:xfrm>
            <a:off x="2810024" y="1647000"/>
            <a:ext cx="12667952" cy="7865112"/>
          </a:xfrm>
        </p:spPr>
      </p:pic>
    </p:spTree>
    <p:extLst>
      <p:ext uri="{BB962C8B-B14F-4D97-AF65-F5344CB8AC3E}">
        <p14:creationId xmlns:p14="http://schemas.microsoft.com/office/powerpoint/2010/main" val="411910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FD0C0-BBE2-736B-6DB9-EEBA4825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661A88-CE61-8704-DE90-3646700B9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 Sample Data</a:t>
            </a:r>
          </a:p>
        </p:txBody>
      </p:sp>
      <p:pic>
        <p:nvPicPr>
          <p:cNvPr id="4" name="Picture Placeholder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94C8C31-6CE5-9517-A2A5-6AE0FA29DC6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16"/>
          <a:stretch>
            <a:fillRect/>
          </a:stretch>
        </p:blipFill>
        <p:spPr>
          <a:xfrm>
            <a:off x="647999" y="1647002"/>
            <a:ext cx="17030403" cy="5217597"/>
          </a:xfrm>
        </p:spPr>
      </p:pic>
    </p:spTree>
    <p:extLst>
      <p:ext uri="{BB962C8B-B14F-4D97-AF65-F5344CB8AC3E}">
        <p14:creationId xmlns:p14="http://schemas.microsoft.com/office/powerpoint/2010/main" val="3024083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Trash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31B2A2-9EEE-B83A-77AB-6E4855A2F87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09" b="9"/>
          <a:stretch>
            <a:fillRect/>
          </a:stretch>
        </p:blipFill>
        <p:spPr>
          <a:xfrm>
            <a:off x="647998" y="1647000"/>
            <a:ext cx="16992005" cy="8027718"/>
          </a:xfrm>
        </p:spPr>
      </p:pic>
    </p:spTree>
    <p:extLst>
      <p:ext uri="{BB962C8B-B14F-4D97-AF65-F5344CB8AC3E}">
        <p14:creationId xmlns:p14="http://schemas.microsoft.com/office/powerpoint/2010/main" val="334640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3306-D96C-F23E-D98C-D03D1053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43EF90ED-AEED-A160-1BCE-A3CD84AD9E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43EF90ED-AEED-A160-1BCE-A3CD84AD9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AC88A2-8CBC-9629-9F61-1ECA954DFD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28F7F58-5182-D291-B326-EF091C452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013249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647998" y="1647825"/>
            <a:ext cx="16994684" cy="799385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371600">
              <a:spcAft>
                <a:spcPts val="900"/>
              </a:spcAft>
            </a:pPr>
            <a:endParaRPr lang="en-GB" sz="27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1296000" y="6369243"/>
            <a:ext cx="15703200" cy="221599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371600"/>
            <a:r>
              <a:rPr lang="en-GB" sz="7200">
                <a:solidFill>
                  <a:srgbClr val="333333"/>
                </a:solidFill>
                <a:latin typeface="Arial"/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642939" y="2295000"/>
            <a:ext cx="3475449" cy="7346682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216000" tIns="216000" rIns="144000" bIns="288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1371566">
              <a:spcAft>
                <a:spcPts val="2400"/>
              </a:spcAft>
            </a:pPr>
            <a:r>
              <a:rPr lang="en-GB" sz="3200" b="1" kern="1200" spc="6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Working area</a:t>
            </a:r>
          </a:p>
          <a:p>
            <a:pPr lvl="3" defTabSz="1371566">
              <a:spcAft>
                <a:spcPts val="2400"/>
              </a:spcAft>
            </a:pP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Depending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on the slide, a single-column layout, a 2-column or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3-column layout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is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used.</a:t>
            </a:r>
          </a:p>
          <a:p>
            <a:pPr lvl="3" defTabSz="1371566">
              <a:spcAft>
                <a:spcPts val="2400"/>
              </a:spcAft>
            </a:pP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Display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the ruler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and guides in the «View» tab.</a:t>
            </a:r>
            <a:endParaRPr lang="en-GB" sz="2400" spc="0" dirty="0">
              <a:solidFill>
                <a:srgbClr val="FFFFFF"/>
              </a:solidFill>
              <a:latin typeface="Arial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4672266" y="6179597"/>
            <a:ext cx="6005295" cy="3328331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11637387" y="6161139"/>
            <a:ext cx="6005295" cy="3346788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7643331" y="3236120"/>
            <a:ext cx="6912000" cy="2106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371600">
                <a:spcAft>
                  <a:spcPts val="900"/>
                </a:spcAft>
              </a:pPr>
              <a:endParaRPr lang="en-GB" sz="2700" dirty="0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5214854" cy="1647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6685143" y="3259545"/>
            <a:ext cx="0" cy="6382137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9750194" y="4827911"/>
            <a:ext cx="2001929" cy="646331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Main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10309237" y="3259546"/>
            <a:ext cx="904160" cy="8188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13532507" y="3259546"/>
            <a:ext cx="904160" cy="8188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white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14605112" y="3259546"/>
            <a:ext cx="904160" cy="8188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8160389" y="3259546"/>
            <a:ext cx="904160" cy="8188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white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12458084" y="3259546"/>
            <a:ext cx="904160" cy="8188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6753969" y="3259546"/>
            <a:ext cx="904160" cy="81884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5679538" y="3259457"/>
            <a:ext cx="904160" cy="81768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11383669" y="3259546"/>
            <a:ext cx="904160" cy="8188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7085966" y="3259546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9227983" y="3259546"/>
            <a:ext cx="904160" cy="818843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10303635" y="4328413"/>
            <a:ext cx="904146" cy="326063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642938" y="3236120"/>
            <a:ext cx="3186000" cy="6405551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3429000" lvl="5" defTabSz="1371600"/>
            <a:endParaRPr lang="en-GB" sz="270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416" y="3609144"/>
            <a:ext cx="2949362" cy="2119854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766607" y="6069414"/>
            <a:ext cx="2959170" cy="103065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766607" y="8542122"/>
            <a:ext cx="2959170" cy="813864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766607" y="7405389"/>
            <a:ext cx="2959170" cy="813864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787009" y="7405390"/>
            <a:ext cx="2938769" cy="19505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755">
                <a:defRPr/>
              </a:pPr>
              <a:endParaRPr lang="en-GB" sz="2201">
                <a:solidFill>
                  <a:prstClr val="black"/>
                </a:solidFill>
                <a:latin typeface="Arial"/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4642171" y="3800695"/>
            <a:ext cx="1989218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33333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4642172" y="4743407"/>
            <a:ext cx="1664751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CC071E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4642163" y="8044285"/>
            <a:ext cx="1664756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E3061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4064966" y="3985085"/>
            <a:ext cx="326063" cy="284594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4064966" y="4397367"/>
            <a:ext cx="326063" cy="1331628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4064966" y="7405389"/>
            <a:ext cx="326063" cy="1970463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4642172" y="6269035"/>
            <a:ext cx="1664751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33333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4064966" y="6021989"/>
            <a:ext cx="326063" cy="1120160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7105844" y="6402809"/>
            <a:ext cx="904160" cy="818843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10329115" y="6402809"/>
            <a:ext cx="904160" cy="818843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9254690" y="6402809"/>
            <a:ext cx="904160" cy="818843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8180267" y="6402809"/>
            <a:ext cx="904160" cy="818843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13552385" y="6402809"/>
            <a:ext cx="904160" cy="818843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14624990" y="6402809"/>
            <a:ext cx="904160" cy="818843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5699416" y="6402809"/>
            <a:ext cx="904160" cy="818843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6773847" y="6402809"/>
            <a:ext cx="904160" cy="818843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7105844" y="7396724"/>
            <a:ext cx="904160" cy="818843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10329115" y="7396724"/>
            <a:ext cx="904160" cy="818843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9254690" y="7396724"/>
            <a:ext cx="904160" cy="818843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8180267" y="7396724"/>
            <a:ext cx="904160" cy="818843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13552385" y="7396724"/>
            <a:ext cx="904160" cy="818843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14624990" y="7396724"/>
            <a:ext cx="904160" cy="818843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5699416" y="7396724"/>
            <a:ext cx="904160" cy="818843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6773847" y="7396724"/>
            <a:ext cx="904160" cy="818843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7142878" y="5896167"/>
            <a:ext cx="10502186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829915" y="4357970"/>
            <a:ext cx="2809547" cy="12798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755">
                <a:defRPr/>
              </a:pPr>
              <a:endParaRPr lang="en-GB" sz="2201">
                <a:solidFill>
                  <a:prstClr val="black"/>
                </a:solidFill>
                <a:latin typeface="Arial"/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7078076" y="4328413"/>
            <a:ext cx="1986437" cy="326063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7085966" y="4827910"/>
            <a:ext cx="1978550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Default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12609572" y="4827910"/>
            <a:ext cx="3780000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11383669" y="4328413"/>
            <a:ext cx="6239120" cy="326063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7078076" y="8492185"/>
            <a:ext cx="4155197" cy="326063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7105844" y="8991683"/>
            <a:ext cx="4127435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12458084" y="6402809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11383660" y="6402809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12458084" y="7396724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11383660" y="7396724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13522804" y="8492185"/>
            <a:ext cx="4155197" cy="326063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13550572" y="8991683"/>
            <a:ext cx="4127435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1670</TotalTime>
  <Words>3107</Words>
  <Application>Microsoft Office PowerPoint</Application>
  <PresentationFormat>Custom</PresentationFormat>
  <Paragraphs>602</Paragraphs>
  <Slides>40</Slides>
  <Notes>38</Notes>
  <HiddenSlides>3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Cascadia Mono</vt:lpstr>
      <vt:lpstr>Aptos</vt:lpstr>
      <vt:lpstr>Arial</vt:lpstr>
      <vt:lpstr>Calibri</vt:lpstr>
      <vt:lpstr>Office Theme</vt:lpstr>
      <vt:lpstr>bbv template EN</vt:lpstr>
      <vt:lpstr>think-cell Slide</vt:lpstr>
      <vt:lpstr>PowerPoint Presentation</vt:lpstr>
      <vt:lpstr>Ypp 4</vt:lpstr>
      <vt:lpstr>Presentation on MS Lists Functionalities</vt:lpstr>
      <vt:lpstr>Agenda</vt:lpstr>
      <vt:lpstr>Introduction</vt:lpstr>
      <vt:lpstr>Introduction</vt:lpstr>
      <vt:lpstr>Key Functionalities</vt:lpstr>
      <vt:lpstr>Key Functionalities of MS Lists</vt:lpstr>
      <vt:lpstr>Dashboard Screen</vt:lpstr>
      <vt:lpstr>Dashboard Entities</vt:lpstr>
      <vt:lpstr>Dashboard Screen</vt:lpstr>
      <vt:lpstr>Dashboard Screen</vt:lpstr>
      <vt:lpstr>Create List Screen</vt:lpstr>
      <vt:lpstr>Create List Screen</vt:lpstr>
      <vt:lpstr>Create List From List Type</vt:lpstr>
      <vt:lpstr>Create List From List Type</vt:lpstr>
      <vt:lpstr>Create List Screen</vt:lpstr>
      <vt:lpstr>Create List Screen</vt:lpstr>
      <vt:lpstr>Create List From Template</vt:lpstr>
      <vt:lpstr>Template View &amp; Template Column</vt:lpstr>
      <vt:lpstr>Template Entities</vt:lpstr>
      <vt:lpstr>List Management</vt:lpstr>
      <vt:lpstr>List Row Detail</vt:lpstr>
      <vt:lpstr>List Column</vt:lpstr>
      <vt:lpstr>List Entities</vt:lpstr>
      <vt:lpstr>List Column Setting</vt:lpstr>
      <vt:lpstr>List Column Setting Entities</vt:lpstr>
      <vt:lpstr>List View</vt:lpstr>
      <vt:lpstr>List View Entities</vt:lpstr>
      <vt:lpstr>List View Sample Data</vt:lpstr>
      <vt:lpstr>Manage Access</vt:lpstr>
      <vt:lpstr>Manage Access</vt:lpstr>
      <vt:lpstr>Manage Access Entities</vt:lpstr>
      <vt:lpstr>Manage Access Sample Data</vt:lpstr>
      <vt:lpstr>Trash</vt:lpstr>
      <vt:lpstr>Q&amp;A</vt:lpstr>
      <vt:lpstr>PowerPoint Presentation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Young Professional Internship Program</dc:title>
  <dc:creator>Dũng Trần</dc:creator>
  <cp:lastModifiedBy>Dũng Trần</cp:lastModifiedBy>
  <cp:revision>13</cp:revision>
  <dcterms:created xsi:type="dcterms:W3CDTF">2006-08-16T00:00:00Z</dcterms:created>
  <dcterms:modified xsi:type="dcterms:W3CDTF">2025-08-08T09:06:10Z</dcterms:modified>
  <dc:identifier>DAGuFyPGShM</dc:identifier>
</cp:coreProperties>
</file>
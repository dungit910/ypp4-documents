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30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6"/>
  </p:notesMasterIdLst>
  <p:sldIdLst>
    <p:sldId id="290" r:id="rId2"/>
    <p:sldId id="331" r:id="rId3"/>
    <p:sldId id="294" r:id="rId4"/>
    <p:sldId id="2145705951" r:id="rId5"/>
    <p:sldId id="2145705925" r:id="rId6"/>
    <p:sldId id="2145705952" r:id="rId7"/>
    <p:sldId id="2145705988" r:id="rId8"/>
    <p:sldId id="2145706005" r:id="rId9"/>
    <p:sldId id="2145706025" r:id="rId10"/>
    <p:sldId id="2145706026" r:id="rId11"/>
    <p:sldId id="2145705990" r:id="rId12"/>
    <p:sldId id="2145706027" r:id="rId13"/>
    <p:sldId id="2145705991" r:id="rId14"/>
    <p:sldId id="2145706028" r:id="rId15"/>
    <p:sldId id="2145705978" r:id="rId16"/>
    <p:sldId id="2145706029" r:id="rId17"/>
    <p:sldId id="2145706031" r:id="rId18"/>
    <p:sldId id="2145706030" r:id="rId19"/>
    <p:sldId id="2145706036" r:id="rId20"/>
    <p:sldId id="2145706037" r:id="rId21"/>
    <p:sldId id="2145706033" r:id="rId22"/>
    <p:sldId id="2145706034" r:id="rId23"/>
    <p:sldId id="2145706035" r:id="rId24"/>
    <p:sldId id="2145706038" r:id="rId25"/>
    <p:sldId id="2145706049" r:id="rId26"/>
    <p:sldId id="2145706039" r:id="rId27"/>
    <p:sldId id="2145706012" r:id="rId28"/>
    <p:sldId id="2145706040" r:id="rId29"/>
    <p:sldId id="2145706041" r:id="rId30"/>
    <p:sldId id="2145706051" r:id="rId31"/>
    <p:sldId id="2145706011" r:id="rId32"/>
    <p:sldId id="2145706050" r:id="rId33"/>
    <p:sldId id="2145706013" r:id="rId34"/>
    <p:sldId id="2145706042" r:id="rId35"/>
    <p:sldId id="2145706043" r:id="rId36"/>
    <p:sldId id="2145706016" r:id="rId37"/>
    <p:sldId id="2145706044" r:id="rId38"/>
    <p:sldId id="2145706045" r:id="rId39"/>
    <p:sldId id="2145706014" r:id="rId40"/>
    <p:sldId id="2145706046" r:id="rId41"/>
    <p:sldId id="2145706047" r:id="rId42"/>
    <p:sldId id="2145706015" r:id="rId43"/>
    <p:sldId id="2145706048" r:id="rId44"/>
    <p:sldId id="2145706004" r:id="rId45"/>
  </p:sldIdLst>
  <p:sldSz cx="18288000" cy="10287000"/>
  <p:notesSz cx="6858000" cy="9144000"/>
  <p:embeddedFontLst>
    <p:embeddedFont>
      <p:font typeface="Cascadia Mono" panose="020B0609020000020004" pitchFamily="49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290"/>
            <p14:sldId id="331"/>
            <p14:sldId id="294"/>
            <p14:sldId id="2145705951"/>
            <p14:sldId id="2145705925"/>
            <p14:sldId id="2145705952"/>
            <p14:sldId id="2145705988"/>
            <p14:sldId id="2145706005"/>
            <p14:sldId id="2145706025"/>
            <p14:sldId id="2145706026"/>
            <p14:sldId id="2145705990"/>
            <p14:sldId id="2145706027"/>
            <p14:sldId id="2145705991"/>
            <p14:sldId id="2145706028"/>
            <p14:sldId id="2145705978"/>
            <p14:sldId id="2145706029"/>
            <p14:sldId id="2145706031"/>
            <p14:sldId id="2145706030"/>
            <p14:sldId id="2145706036"/>
            <p14:sldId id="2145706037"/>
            <p14:sldId id="2145706033"/>
            <p14:sldId id="2145706034"/>
            <p14:sldId id="2145706035"/>
            <p14:sldId id="2145706038"/>
            <p14:sldId id="2145706049"/>
            <p14:sldId id="2145706039"/>
            <p14:sldId id="2145706012"/>
            <p14:sldId id="2145706040"/>
            <p14:sldId id="2145706041"/>
            <p14:sldId id="2145706051"/>
            <p14:sldId id="2145706011"/>
            <p14:sldId id="2145706050"/>
            <p14:sldId id="2145706013"/>
            <p14:sldId id="2145706042"/>
            <p14:sldId id="2145706043"/>
            <p14:sldId id="2145706016"/>
            <p14:sldId id="2145706044"/>
            <p14:sldId id="2145706045"/>
            <p14:sldId id="2145706014"/>
            <p14:sldId id="2145706046"/>
            <p14:sldId id="2145706047"/>
            <p14:sldId id="2145706015"/>
            <p14:sldId id="2145706048"/>
            <p14:sldId id="2145706004"/>
          </p14:sldIdLst>
        </p14:section>
        <p14:section name="Default Section" id="{4A2A6805-F643-43CA-A264-483E695524C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3791" autoAdjust="0"/>
  </p:normalViewPr>
  <p:slideViewPr>
    <p:cSldViewPr>
      <p:cViewPr varScale="1">
        <p:scale>
          <a:sx n="46" d="100"/>
          <a:sy n="46" d="100"/>
        </p:scale>
        <p:origin x="96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F3D95-C6A4-4231-825D-6C7EF1D6A15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C2FD7-E7E2-4303-A14F-1AE6540A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1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26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55DA-FFB3-CD96-49C7-13E5BD21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D26C4-EB8E-F90B-B6B1-637DEBE50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0F57F-EAD8-D5E8-5D44-20FF564AF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38117-AC65-D396-6A73-AA306EAD6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11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86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Dashboard Screen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information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da-DK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da-DK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DungTran910@live.com</a:t>
            </a:r>
            <a:endParaRPr lang="da-DK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lists created by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favorite lists of a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ListStatus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FavoriteList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UpdatedAt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517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list types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ListType lt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360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list types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ListType lt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691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HeaderImage of a specific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ListType lt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workspaces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WorkspaceId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WorkspaceMember wm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 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204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HeaderImage of a specific list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ListType lt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workspaces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WorkspaceId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WorkspaceMember wm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Workspace 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WorkspaceId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wm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363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providers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TemplateProvider tp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templates of a specific provider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TemplateProvider tp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06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 Create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providers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TemplateProvider tp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templates of a specific provider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HeaderImage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TemplateProvider tp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015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basic information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Summary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Feature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sample data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CellValue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tcol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TemplateSampleRow 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TemplateSampleCell tcell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TemplateSampleRowId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177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basic information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Summary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Feature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ListTemplate lt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sample data of a specific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CellValue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tcol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TemplateSampleRow 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TemplateSampleCell tcell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trow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tcell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TemplateSampleRowId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tcol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60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 tv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TemplateViewSetting tvs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TemplateViewId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columns of a template and their setting value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TemplateColumnSettingValue tcsv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'TEMPLATE'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254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List From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template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 tv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TemplateViewSetting tvs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TemplateViewId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columns of a template and their setting value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TemplateColumnSettingValue tcsv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TemplateColumnId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TemplateColumn tc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'TEMPLATE'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ListTemplateId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10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46D8-A98D-E58D-9049-DD11AE3E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D687-1A89-2E5F-24AF-3DB635F0B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59022-9C4B-D2E4-03CC-97759A0EC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[Value]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CellValue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ListCellValue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ListDynamicColumnId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ldc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'LIST'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 lv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settings of a specific list view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ListViewSetting lvs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2837-36F6-927C-2D26-2DB45386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905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46D8-A98D-E58D-9049-DD11AE3E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D687-1A89-2E5F-24AF-3DB635F0B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59022-9C4B-D2E4-03CC-97759A0EC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ColumnName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ColumnName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[Value]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CellValue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ListCellValue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lcvl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column setting object of needed columns (choice)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ListDynamicColumnId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DisplayColor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ListColumnSettingObject lcso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ListDynamicColumn ldc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lcso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'LIST'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LDC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 lv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DisplayOrder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settings of a specific list view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GroupByColumnId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RawValue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ListViewSetting lvs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ListViewId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2837-36F6-927C-2D26-2DB45386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300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19F7-E2DD-C321-295C-84BBBC9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0503-E601-0929-78FB-B6C64D79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E24E-F718-9012-D15E-DD5440E8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comment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ListRowComment lrc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attachment files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[FileName]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FileUrl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FileAttachment fa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ListItemId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667A2-657E-E247-49AE-886476D7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640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19F7-E2DD-C321-295C-84BBBC9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0503-E601-0929-78FB-B6C64D79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E24E-F718-9012-D15E-DD5440E8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comment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RowId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ListRowComment lrc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ListRowId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lrc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attachment files of a row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[FileName]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FileUrl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FileAttachment fa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ListItemId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fa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CreateAt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667A2-657E-E247-49AE-886476D7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800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5451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820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98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180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445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690-28F4-65A8-EEA1-5F74668B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5360B-D8A8-416A-21D0-2ABDE8FF9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59B4-8498-84F4-0E0A-1975574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-- List Column Setting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key setting of a specific system data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KeySetting ks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datatype settings of a specific column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DataTypeSettingKey dtsk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ListColumnSettingValue lcsv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DataTypeSettingKeyId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lcsv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dtsk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5693-157E-8626-435E-412ABE75B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404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251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9F89-C2F3-A793-42C1-272DB6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26814-0B6B-08AB-55DA-46578D02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F9FE8-F9DE-E7B4-FA00-B650D309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Management</a:t>
            </a:r>
          </a:p>
          <a:p>
            <a:endParaRPr lang="en-US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system data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sdt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SystemDataType sdt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2C7A-97C9-23B8-72BB-7F917543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95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7838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350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D828-DE99-C24D-E243-872AE3CB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1838-6DF2-7AAE-BCDE-CAAE9079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9E58-EA2B-CCB7-0FA3-5E04C0D7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View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view types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 vt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view type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SettingKey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ViewSetting vs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ViewTypeSetting vts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ViewSettingId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vts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ViewTypeId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4267-EBDD-9539-944F-6C69E4E88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900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5466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250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4535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ECC3-2F9C-7525-028D-9555F3D4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18DD-7638-501D-AAB9-79E382CC6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F007-CA97-6512-0C20-C5E457CF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40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permisions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scopes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 settings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current list members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ListMemberPermission lmp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AC75-EC55-A7A8-0087-73657FB86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0184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543D-D628-473C-4BCB-F8A9B0CA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78605-2336-D60F-2204-29F9C5E2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3AB5A-0E0B-700F-BC74-EEB04461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18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sharelinks of a specific list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[URL]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 sl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PermissionId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ShareLinkUserAccess slua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'SPECIFIC'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slua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settings of a specific sharelink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ShareLinkSettingValue slsv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KeySettingId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slsv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ShareLinkId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E4B9-DDEF-66E6-194E-50739D41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274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ECC3-2F9C-7525-028D-9555F3D4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18DD-7638-501D-AAB9-79E382CC6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F007-CA97-6512-0C20-C5E457CF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</a:t>
            </a:r>
            <a:r>
              <a:rPr lang="en-US" sz="4000"/>
              <a:t>Manage Access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permisions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Permission p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scopes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Code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[Name]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[Description]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Scope s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sharelink settings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ValueType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KeySetting ks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IsShareLinkSetting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current list members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Avatar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ListMemberPermission lmp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Account a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lmp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AC75-EC55-A7A8-0087-73657FB86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7243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6D0E-3DFB-3CBE-9FE3-DEE6F766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C8F1-0B57-4A04-1A2C-AE8B2022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B7823-B6F6-5D02-C374-FAADDE7FB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SCREEN: TRASH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trash items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DeletedAt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[Path]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TrashItem ti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ObjectType ot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7B96-95AA-0582-C762-3620C334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8917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6D0E-3DFB-3CBE-9FE3-DEE6F766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C8F1-0B57-4A04-1A2C-AE8B2022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B7823-B6F6-5D02-C374-FAADDE7FB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SCREEN: TRASH 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Get all trash items of a specific user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ObjectName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ObjectTypeId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DeletedAt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ObjectStatus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[Path]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TrashItem ti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ObjectType ot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ObjectId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CreatedBy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7B96-95AA-0582-C762-3620C334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6828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447F-1CB7-04D9-0ABB-E37A0760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B055D-4B30-A59E-E929-5D5C47DDF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1A2DD-CFBC-9487-1529-1ED478A5C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A52D-A0FB-6089-A27B-06DBDB730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FF178-7F5C-4C53-AC97-DF4205D97146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54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3636000" y="5056442"/>
            <a:ext cx="11234289" cy="182111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42186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222616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3800" y="2943000"/>
            <a:ext cx="3888000" cy="1944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23532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000" y="2295000"/>
            <a:ext cx="7848000" cy="7344000"/>
          </a:xfrm>
        </p:spPr>
        <p:txBody>
          <a:bodyPr anchor="t"/>
          <a:lstStyle>
            <a:lvl1pPr marL="938213" indent="-938213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938213" indent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409472261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>
          <p15:clr>
            <a:srgbClr val="FBAE40"/>
          </p15:clr>
        </p15:guide>
        <p15:guide id="9" pos="270">
          <p15:clr>
            <a:srgbClr val="FBAE40"/>
          </p15:clr>
        </p15:guide>
        <p15:guide id="10" pos="3839">
          <p15:clr>
            <a:srgbClr val="FBAE40"/>
          </p15:clr>
        </p15:guide>
        <p15:guide id="11" orient="horz" pos="4047">
          <p15:clr>
            <a:srgbClr val="FBAE40"/>
          </p15:clr>
        </p15:guide>
        <p15:guide id="12" orient="horz" pos="963">
          <p15:clr>
            <a:srgbClr val="FBAE40"/>
          </p15:clr>
        </p15:guide>
        <p15:guide id="13" pos="356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647000"/>
            <a:ext cx="18288000" cy="8640000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rtlCol="0" anchor="ctr">
            <a:noAutofit/>
          </a:bodyPr>
          <a:lstStyle/>
          <a:p>
            <a:pPr algn="ctr" rtl="0"/>
            <a:endParaRPr lang="en-GB" sz="24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32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999" y="8802000"/>
            <a:ext cx="16997063" cy="553998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999" y="6369243"/>
            <a:ext cx="16997063" cy="2215992"/>
          </a:xfrm>
        </p:spPr>
        <p:txBody>
          <a:bodyPr vert="horz" anchor="b">
            <a:noAutofit/>
          </a:bodyPr>
          <a:lstStyle>
            <a:lvl1pPr algn="l" rtl="0"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863511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2293145"/>
            <a:ext cx="16993800" cy="734853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9275514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>
          <p15:clr>
            <a:srgbClr val="FBAE40"/>
          </p15:clr>
        </p15:guide>
        <p15:guide id="14" pos="270">
          <p15:clr>
            <a:srgbClr val="FBAE40"/>
          </p15:clr>
        </p15:guide>
        <p15:guide id="15" orient="horz" pos="692">
          <p15:clr>
            <a:srgbClr val="FBAE40"/>
          </p15:clr>
        </p15:guide>
        <p15:guide id="16" orient="horz" pos="4049">
          <p15:clr>
            <a:srgbClr val="FBAE40"/>
          </p15:clr>
        </p15:guide>
        <p15:guide id="17" pos="7409">
          <p15:clr>
            <a:srgbClr val="FBAE40"/>
          </p15:clr>
        </p15:guide>
        <p15:guide id="18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881"/>
            <a:ext cx="169938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69938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709604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>
          <p15:clr>
            <a:srgbClr val="FBAE40"/>
          </p15:clr>
        </p15:guide>
        <p15:guide id="14" pos="270">
          <p15:clr>
            <a:srgbClr val="FBAE40"/>
          </p15:clr>
        </p15:guide>
        <p15:guide id="15" orient="horz" pos="692">
          <p15:clr>
            <a:srgbClr val="FBAE40"/>
          </p15:clr>
        </p15:guide>
        <p15:guide id="16" orient="horz" pos="4049">
          <p15:clr>
            <a:srgbClr val="FBAE40"/>
          </p15:clr>
        </p15:guide>
        <p15:guide id="17" pos="7409">
          <p15:clr>
            <a:srgbClr val="FBAE40"/>
          </p15:clr>
        </p15:guide>
        <p15:guide id="18" orient="horz" pos="135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1" y="3240881"/>
            <a:ext cx="8171999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1" y="2295000"/>
            <a:ext cx="8171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68000" y="3240881"/>
            <a:ext cx="8174682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68000" y="2295000"/>
            <a:ext cx="8174682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60332400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>
          <p15:clr>
            <a:srgbClr val="FBAE40"/>
          </p15:clr>
        </p15:guide>
        <p15:guide id="16" pos="270">
          <p15:clr>
            <a:srgbClr val="FBAE40"/>
          </p15:clr>
        </p15:guide>
        <p15:guide id="17" orient="horz" pos="692">
          <p15:clr>
            <a:srgbClr val="FBAE40"/>
          </p15:clr>
        </p15:guide>
        <p15:guide id="18" orient="horz" pos="4049">
          <p15:clr>
            <a:srgbClr val="FBAE40"/>
          </p15:clr>
        </p15:guide>
        <p15:guide id="19" pos="7409">
          <p15:clr>
            <a:srgbClr val="FBAE40"/>
          </p15:clr>
        </p15:guide>
        <p15:guide id="20" orient="horz" pos="1359">
          <p15:clr>
            <a:srgbClr val="FBAE40"/>
          </p15:clr>
        </p15:guide>
        <p15:guide id="21" pos="3974">
          <p15:clr>
            <a:srgbClr val="FBAE40"/>
          </p15:clr>
        </p15:guide>
        <p15:guide id="22" pos="370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2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7400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08000" y="3240881"/>
            <a:ext cx="5232000" cy="640080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08000" y="2295000"/>
            <a:ext cx="52326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17448196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5210">
          <p15:clr>
            <a:srgbClr val="FBAE40"/>
          </p15:clr>
        </p15:guide>
        <p15:guide id="24" pos="4940">
          <p15:clr>
            <a:srgbClr val="FBAE40"/>
          </p15:clr>
        </p15:guide>
        <p15:guide id="25" pos="2740">
          <p15:clr>
            <a:srgbClr val="FBAE40"/>
          </p15:clr>
        </p15:guide>
        <p15:guide id="26" pos="247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0" y="3240002"/>
            <a:ext cx="7848300" cy="6401682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0" y="2295000"/>
            <a:ext cx="78483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33097457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orient="horz" pos="1359">
          <p15:clr>
            <a:srgbClr val="FBAE40"/>
          </p15:clr>
        </p15:guide>
        <p15:guide id="22" pos="3568">
          <p15:clr>
            <a:srgbClr val="FBAE40"/>
          </p15:clr>
        </p15:guide>
        <p15:guide id="23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191397" y="1647000"/>
            <a:ext cx="6096603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0895999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0895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28056889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4848">
          <p15:clr>
            <a:srgbClr val="FBAE40"/>
          </p15:clr>
        </p15:guide>
        <p15:guide id="24" pos="5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719600" y="1647000"/>
            <a:ext cx="45684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2427931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2429827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4590941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5492">
          <p15:clr>
            <a:srgbClr val="FBAE40"/>
          </p15:clr>
        </p15:guide>
        <p15:guide id="24" pos="57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191397" y="1647000"/>
            <a:ext cx="6096603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3240001"/>
            <a:ext cx="10895999" cy="640168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9" y="2295000"/>
            <a:ext cx="10895999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872137" y="7697684"/>
            <a:ext cx="4767864" cy="1944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83699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orient="horz" pos="1359">
          <p15:clr>
            <a:srgbClr val="FBAE40"/>
          </p15:clr>
        </p15:guide>
        <p15:guide id="23" pos="4848">
          <p15:clr>
            <a:srgbClr val="FBAE40"/>
          </p15:clr>
        </p15:guide>
        <p15:guide id="24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7" y="3236120"/>
            <a:ext cx="5892534" cy="6405563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997" y="2295000"/>
            <a:ext cx="5892534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8533" y="3236120"/>
            <a:ext cx="5887397" cy="6405563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8533" y="2295000"/>
            <a:ext cx="5887397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3348468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>
          <p15:clr>
            <a:srgbClr val="FBAE40"/>
          </p15:clr>
        </p15:guide>
        <p15:guide id="20" pos="270">
          <p15:clr>
            <a:srgbClr val="FBAE40"/>
          </p15:clr>
        </p15:guide>
        <p15:guide id="21" orient="horz" pos="692">
          <p15:clr>
            <a:srgbClr val="FBAE40"/>
          </p15:clr>
        </p15:guide>
        <p15:guide id="22" orient="horz" pos="4049">
          <p15:clr>
            <a:srgbClr val="FBAE40"/>
          </p15:clr>
        </p15:guide>
        <p15:guide id="23" orient="horz" pos="1359">
          <p15:clr>
            <a:srgbClr val="FBAE40"/>
          </p15:clr>
        </p15:guide>
        <p15:guide id="24" pos="5490">
          <p15:clr>
            <a:srgbClr val="FBAE40"/>
          </p15:clr>
        </p15:guide>
        <p15:guide id="25" pos="5760">
          <p15:clr>
            <a:srgbClr val="FBAE40"/>
          </p15:clr>
        </p15:guide>
        <p15:guide id="26" pos="3018">
          <p15:clr>
            <a:srgbClr val="FBAE40"/>
          </p15:clr>
        </p15:guide>
        <p15:guide id="27" pos="274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9144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93781" y="2293145"/>
            <a:ext cx="7848903" cy="7344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6002" y="6395930"/>
            <a:ext cx="7198200" cy="3245752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96002" y="6357834"/>
            <a:ext cx="432000" cy="380478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8062202" y="9438783"/>
            <a:ext cx="432000" cy="380478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14224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7409">
          <p15:clr>
            <a:srgbClr val="FBAE40"/>
          </p15:clr>
        </p15:guide>
        <p15:guide id="22" pos="41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2916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5212859"/>
            <a:ext cx="16994684" cy="4428824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481423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>
          <p15:clr>
            <a:srgbClr val="FBAE40"/>
          </p15:clr>
        </p15:guide>
        <p15:guide id="16" pos="270">
          <p15:clr>
            <a:srgbClr val="FBAE40"/>
          </p15:clr>
        </p15:guide>
        <p15:guide id="17" orient="horz" pos="692">
          <p15:clr>
            <a:srgbClr val="FBAE40"/>
          </p15:clr>
        </p15:guide>
        <p15:guide id="18" orient="horz" pos="4049">
          <p15:clr>
            <a:srgbClr val="FBAE40"/>
          </p15:clr>
        </p15:guide>
        <p15:guide id="19" pos="7409">
          <p15:clr>
            <a:srgbClr val="FBAE40"/>
          </p15:clr>
        </p15:guide>
        <p15:guide id="20" orient="horz" pos="21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000" y="1647001"/>
            <a:ext cx="12960000" cy="1795767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62148" y="258927"/>
            <a:ext cx="2025852" cy="1026546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5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31548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>
          <p15:clr>
            <a:srgbClr val="FBAE40"/>
          </p15:clr>
        </p15:guide>
        <p15:guide id="4" pos="57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47000"/>
            <a:ext cx="18288000" cy="864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6147926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2040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84470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92040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84470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923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34166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3684274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6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7242598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94535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233468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7338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7338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76271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76271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77737265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36999" y="571888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288949" y="571888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4526317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803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6803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3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000" y="2297048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69119" y="475487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69119" y="5275011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79802" y="817671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79802" y="8696852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431751" y="8176718"/>
            <a:ext cx="3874395" cy="4154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31751" y="8696852"/>
            <a:ext cx="3874395" cy="945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450"/>
              </a:spcAft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1645370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>
          <p15:clr>
            <a:srgbClr val="FBAE40"/>
          </p15:clr>
        </p15:guide>
        <p15:guide id="13" pos="270">
          <p15:clr>
            <a:srgbClr val="FBAE40"/>
          </p15:clr>
        </p15:guide>
        <p15:guide id="14" orient="horz" pos="692">
          <p15:clr>
            <a:srgbClr val="FBAE40"/>
          </p15:clr>
        </p15:guide>
        <p15:guide id="15" orient="horz" pos="4049">
          <p15:clr>
            <a:srgbClr val="FBAE40"/>
          </p15:clr>
        </p15:guide>
        <p15:guide id="16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997" y="3024000"/>
            <a:ext cx="7883916" cy="452817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997" y="2281238"/>
            <a:ext cx="788391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000" y="2295000"/>
            <a:ext cx="3240000" cy="32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83997" y="4271291"/>
            <a:ext cx="7883916" cy="1709493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997" y="6803904"/>
            <a:ext cx="7883916" cy="2837778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8872465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3719600" y="1647000"/>
            <a:ext cx="4568400" cy="864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51687" y="7314452"/>
            <a:ext cx="5880426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87487" y="7314452"/>
            <a:ext cx="5880426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51687" y="5764314"/>
            <a:ext cx="5880426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48000" y="5021552"/>
            <a:ext cx="588042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4800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87487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87487" y="5764314"/>
            <a:ext cx="5880426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7487" y="5021552"/>
            <a:ext cx="5880426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095890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5415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415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47999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47999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4800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3415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34150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4150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18220" y="7314452"/>
            <a:ext cx="5219700" cy="2327231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418220" y="2295000"/>
            <a:ext cx="2430000" cy="243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18220" y="5764314"/>
            <a:ext cx="5219700" cy="951414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418220" y="5021552"/>
            <a:ext cx="5219700" cy="507831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22262467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2281237"/>
            <a:ext cx="16992000" cy="73577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368" y="10650900"/>
            <a:ext cx="6172200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5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16400" y="10650900"/>
            <a:ext cx="70723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5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32422" y="529200"/>
            <a:ext cx="1107578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ransition spd="slow">
    <p:push dir="u"/>
  </p:transition>
  <p:hf sldNum="0" hdr="0" ftr="0" dt="0"/>
  <p:txStyles>
    <p:titleStyle>
      <a:lvl1pPr algn="l" defTabSz="1371600" rtl="0" eaLnBrk="1" latinLnBrk="0" hangingPunct="1">
        <a:lnSpc>
          <a:spcPct val="100000"/>
        </a:lnSpc>
        <a:spcBef>
          <a:spcPct val="0"/>
        </a:spcBef>
        <a:buNone/>
        <a:defRPr sz="4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0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tx1"/>
        </a:buClr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tx1"/>
        </a:buClr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025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2430000" indent="-405000" algn="l" defTabSz="137160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.emf"/><Relationship Id="rId10" Type="http://schemas.openxmlformats.org/officeDocument/2006/relationships/image" Target="../media/image16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Relationship Id="rId6" Type="http://schemas.openxmlformats.org/officeDocument/2006/relationships/image" Target="../media/image20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bbv Software Services AG  |  </a:t>
            </a:r>
            <a:r>
              <a:rPr lang="en-CH"/>
              <a:t>Date</a:t>
            </a:r>
            <a:r>
              <a:rPr lang="en-US"/>
              <a:t>: 21/07/2025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Presentation on MS Lists Functionalities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14393747" y="3520299"/>
            <a:ext cx="2604509" cy="789402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9144000" y="1647000"/>
            <a:ext cx="9144000" cy="864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000" y="2333498"/>
            <a:ext cx="7848000" cy="7344000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Key Functionalities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2" y="2382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2" y="2382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647000"/>
            <a:ext cx="18288000" cy="324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What is MS Lists?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Introduction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E9F1D8E-5CD6-669B-488D-B0394463E63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559" t="-5617" r="31079" b="-2491"/>
          <a:stretch>
            <a:fillRect/>
          </a:stretch>
        </p:blipFill>
        <p:spPr>
          <a:xfrm>
            <a:off x="9144000" y="1647000"/>
            <a:ext cx="9144000" cy="8640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9E7B5-BDF1-4F3B-5DC4-0AD36B6113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003934" lvl="1" indent="-501968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MS List is a tool for managing structured lists of data</a:t>
            </a:r>
          </a:p>
          <a:p>
            <a:pPr marL="1003934" lvl="1" indent="-501968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Works like a simple table or database</a:t>
            </a:r>
          </a:p>
          <a:p>
            <a:pPr marL="1003934" lvl="1" indent="-501968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Let’s users:</a:t>
            </a:r>
          </a:p>
          <a:p>
            <a:pPr marL="2007869" lvl="2" indent="-669290">
              <a:lnSpc>
                <a:spcPct val="15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Create lists</a:t>
            </a:r>
          </a:p>
          <a:p>
            <a:pPr marL="2007869" lvl="2" indent="-669290">
              <a:lnSpc>
                <a:spcPct val="15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View data</a:t>
            </a:r>
          </a:p>
          <a:p>
            <a:pPr marL="2007869" lvl="2" indent="-669290">
              <a:lnSpc>
                <a:spcPct val="150000"/>
              </a:lnSpc>
              <a:buFont typeface="Arial"/>
              <a:buChar char="⚬"/>
            </a:pPr>
            <a:r>
              <a:rPr lang="en-US" sz="2800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Manage info clearly and easily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1DB2E-AD64-0680-8783-D12FD58E8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is Microsoft Lists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96EED-E4A7-AF91-27B1-EB89B3B3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99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3" y="2382"/>
          <a:ext cx="1841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3" y="2382"/>
                        <a:ext cx="1841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Key Functionalities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A8424D-E30A-CC8F-7CCA-CAC552D85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8858" y="1664639"/>
            <a:ext cx="10829142" cy="69577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27CAB0-B37D-52A6-4426-B2C2E84419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999" y="2740325"/>
            <a:ext cx="7316129" cy="4806348"/>
          </a:xfrm>
        </p:spPr>
        <p:txBody>
          <a:bodyPr wrap="square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Create and Manage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Manage List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 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Conditional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Permissions and Sharing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Built-in Templates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C62CE5-8D7B-3AB9-4C63-246726DC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Key Functionalities of MS Lists</a:t>
            </a:r>
          </a:p>
        </p:txBody>
      </p:sp>
    </p:spTree>
    <p:extLst>
      <p:ext uri="{BB962C8B-B14F-4D97-AF65-F5344CB8AC3E}">
        <p14:creationId xmlns:p14="http://schemas.microsoft.com/office/powerpoint/2010/main" val="13618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66F8B3D-7E59-7423-D60A-E56F9456754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171" b="1171"/>
          <a:stretch>
            <a:fillRect/>
          </a:stretch>
        </p:blipFill>
        <p:spPr>
          <a:xfrm>
            <a:off x="0" y="1646238"/>
            <a:ext cx="18288000" cy="864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4864C-4583-CC29-9DF4-730C9092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6482B54-9CF4-9EAB-0CED-7385EC25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Dashboard Screen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331A725-C198-E108-0D10-E7897AA6CE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9842" b="9842"/>
          <a:stretch/>
        </p:blipFill>
        <p:spPr/>
      </p:pic>
    </p:spTree>
    <p:extLst>
      <p:ext uri="{BB962C8B-B14F-4D97-AF65-F5344CB8AC3E}">
        <p14:creationId xmlns:p14="http://schemas.microsoft.com/office/powerpoint/2010/main" val="384818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E58D5B8-4BCE-F3FD-F2DB-AA51CF997B6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92" b="192"/>
          <a:stretch/>
        </p:blipFill>
        <p:spPr/>
      </p:pic>
    </p:spTree>
    <p:extLst>
      <p:ext uri="{BB962C8B-B14F-4D97-AF65-F5344CB8AC3E}">
        <p14:creationId xmlns:p14="http://schemas.microsoft.com/office/powerpoint/2010/main" val="344234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9ECD-E04B-9B6C-75C2-0FA45FC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BCACF5E-536E-907E-916E-391B1237CE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9071" b="9071"/>
          <a:stretch/>
        </p:blipFill>
        <p:spPr/>
      </p:pic>
    </p:spTree>
    <p:extLst>
      <p:ext uri="{BB962C8B-B14F-4D97-AF65-F5344CB8AC3E}">
        <p14:creationId xmlns:p14="http://schemas.microsoft.com/office/powerpoint/2010/main" val="48050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478-4911-D45A-7A84-ABA3EBD9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4BDD-C6F5-8DBA-E0DD-04E9C990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List Screen</a:t>
            </a:r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148836-0D2D-E5BA-C795-DB2F2F3DC4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9" b="80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3911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478-4911-D45A-7A84-ABA3EBD9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4BDD-C6F5-8DBA-E0DD-04E9C990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List Screen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EBA56F1-64EB-28DA-C64E-3D66D4DA152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849" r="1849"/>
          <a:stretch/>
        </p:blipFill>
        <p:spPr/>
      </p:pic>
    </p:spTree>
    <p:extLst>
      <p:ext uri="{BB962C8B-B14F-4D97-AF65-F5344CB8AC3E}">
        <p14:creationId xmlns:p14="http://schemas.microsoft.com/office/powerpoint/2010/main" val="6850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4D9-2F87-79EA-153C-552F34C2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F1A088-7490-7621-ECF9-0EA7052A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List Type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90497-41CA-ECB4-231B-C6FE0AA7039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9" b="80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0548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4D9-2F87-79EA-153C-552F34C2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F1A088-7490-7621-ECF9-0EA7052A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List Type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FA61C8C-F69F-363F-8C83-A29B650666D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983" b="5983"/>
          <a:stretch/>
        </p:blipFill>
        <p:spPr/>
      </p:pic>
    </p:spTree>
    <p:extLst>
      <p:ext uri="{BB962C8B-B14F-4D97-AF65-F5344CB8AC3E}">
        <p14:creationId xmlns:p14="http://schemas.microsoft.com/office/powerpoint/2010/main" val="209858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6619-FFFF-5302-9D68-83328BF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4EABAE-EECB-BFE2-DE62-E4E7DE8D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Screen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F08E40B-BCF6-593A-0801-70707061B8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3187" b="3187"/>
          <a:stretch/>
        </p:blipFill>
        <p:spPr/>
      </p:pic>
    </p:spTree>
    <p:extLst>
      <p:ext uri="{BB962C8B-B14F-4D97-AF65-F5344CB8AC3E}">
        <p14:creationId xmlns:p14="http://schemas.microsoft.com/office/powerpoint/2010/main" val="364169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6619-FFFF-5302-9D68-83328BF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4EABAE-EECB-BFE2-DE62-E4E7DE8D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Screen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4813B33-3F5F-153F-E137-495B389362D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712" b="2712"/>
          <a:stretch/>
        </p:blipFill>
        <p:spPr/>
      </p:pic>
    </p:spTree>
    <p:extLst>
      <p:ext uri="{BB962C8B-B14F-4D97-AF65-F5344CB8AC3E}">
        <p14:creationId xmlns:p14="http://schemas.microsoft.com/office/powerpoint/2010/main" val="232259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2766-D0DA-8CB6-F748-E2B98E4B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AE4D48-0173-8042-5B42-8B770347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Template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BBA0D4F-937A-412D-3B78-4D37B7C56D2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880" b="7880"/>
          <a:stretch/>
        </p:blipFill>
        <p:spPr/>
      </p:pic>
    </p:spTree>
    <p:extLst>
      <p:ext uri="{BB962C8B-B14F-4D97-AF65-F5344CB8AC3E}">
        <p14:creationId xmlns:p14="http://schemas.microsoft.com/office/powerpoint/2010/main" val="56121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2766-D0DA-8CB6-F748-E2B98E4B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AE4D48-0173-8042-5B42-8B770347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Create List From Template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E567D92-9F41-9F54-8C66-F908EE61FB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062" b="7062"/>
          <a:stretch/>
        </p:blipFill>
        <p:spPr/>
      </p:pic>
    </p:spTree>
    <p:extLst>
      <p:ext uri="{BB962C8B-B14F-4D97-AF65-F5344CB8AC3E}">
        <p14:creationId xmlns:p14="http://schemas.microsoft.com/office/powerpoint/2010/main" val="111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DA6-C8B0-C5C4-F8D5-75EA773E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6EFF65-BED0-97FB-2976-DB9AFB26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Template View &amp; Template Column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1AAAF11-6609-D9AA-06CC-74DDE48876C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679" b="679"/>
          <a:stretch/>
        </p:blipFill>
        <p:spPr>
          <a:xfrm>
            <a:off x="304800" y="1485900"/>
            <a:ext cx="18288000" cy="8640000"/>
          </a:xfrm>
        </p:spPr>
      </p:pic>
    </p:spTree>
    <p:extLst>
      <p:ext uri="{BB962C8B-B14F-4D97-AF65-F5344CB8AC3E}">
        <p14:creationId xmlns:p14="http://schemas.microsoft.com/office/powerpoint/2010/main" val="24022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6DA6-C8B0-C5C4-F8D5-75EA773E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6EFF65-BED0-97FB-2976-DB9AFB26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Template View &amp; Template Column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DFC5B3D-8410-19F7-C701-7FA6A2E4CCF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0249" b="10249"/>
          <a:stretch/>
        </p:blipFill>
        <p:spPr/>
      </p:pic>
    </p:spTree>
    <p:extLst>
      <p:ext uri="{BB962C8B-B14F-4D97-AF65-F5344CB8AC3E}">
        <p14:creationId xmlns:p14="http://schemas.microsoft.com/office/powerpoint/2010/main" val="56816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EF38-376F-1BD6-5CAC-C19E1A23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CDE327-815A-7899-3890-2C397D9C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Management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9EC249-2F1D-93FA-82F7-B0F716103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90700"/>
            <a:ext cx="17662459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EF38-376F-1BD6-5CAC-C19E1A23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CDE327-815A-7899-3890-2C397D9C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List Management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0ABCE54-E25A-11F8-54B3-B0FFE2D95D3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053" b="5053"/>
          <a:stretch/>
        </p:blipFill>
        <p:spPr/>
      </p:pic>
    </p:spTree>
    <p:extLst>
      <p:ext uri="{BB962C8B-B14F-4D97-AF65-F5344CB8AC3E}">
        <p14:creationId xmlns:p14="http://schemas.microsoft.com/office/powerpoint/2010/main" val="376267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4AE94-9C99-2013-F9F0-3E2755DD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5C2F91-A801-434C-A0DF-099E4FFF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Row Detail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9A7ADC7-4D4B-12CB-AA07-68458D26E7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80" b="780"/>
          <a:stretch>
            <a:fillRect/>
          </a:stretch>
        </p:blipFill>
        <p:spPr>
          <a:xfrm>
            <a:off x="0" y="1646238"/>
            <a:ext cx="18288000" cy="864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6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4AE94-9C99-2013-F9F0-3E2755DD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5C2F91-A801-434C-A0DF-099E4FFF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Row Detail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4162356-2EF8-B265-AF7F-04EE50B2E3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8521" b="8521"/>
          <a:stretch/>
        </p:blipFill>
        <p:spPr/>
      </p:pic>
    </p:spTree>
    <p:extLst>
      <p:ext uri="{BB962C8B-B14F-4D97-AF65-F5344CB8AC3E}">
        <p14:creationId xmlns:p14="http://schemas.microsoft.com/office/powerpoint/2010/main" val="22747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List Dynamic Column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9CBE3FC-76CD-142F-807D-232F09C188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38" r="538"/>
          <a:stretch/>
        </p:blipFill>
        <p:spPr/>
      </p:pic>
    </p:spTree>
    <p:extLst>
      <p:ext uri="{BB962C8B-B14F-4D97-AF65-F5344CB8AC3E}">
        <p14:creationId xmlns:p14="http://schemas.microsoft.com/office/powerpoint/2010/main" val="1608011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List Dynamic Column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E948695-13D6-8DDA-C631-49AB982CE2A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6299" b="6299"/>
          <a:stretch/>
        </p:blipFill>
        <p:spPr/>
      </p:pic>
    </p:spTree>
    <p:extLst>
      <p:ext uri="{BB962C8B-B14F-4D97-AF65-F5344CB8AC3E}">
        <p14:creationId xmlns:p14="http://schemas.microsoft.com/office/powerpoint/2010/main" val="3546749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55ABE1A-580A-B808-5AAC-FE4B72F39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8269" b="8269"/>
          <a:stretch/>
        </p:blipFill>
        <p:spPr/>
      </p:pic>
    </p:spTree>
    <p:extLst>
      <p:ext uri="{BB962C8B-B14F-4D97-AF65-F5344CB8AC3E}">
        <p14:creationId xmlns:p14="http://schemas.microsoft.com/office/powerpoint/2010/main" val="58590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4CBDC69-0690-1BD7-47C7-618F695156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422" r="4422"/>
          <a:stretch/>
        </p:blipFill>
        <p:spPr/>
      </p:pic>
    </p:spTree>
    <p:extLst>
      <p:ext uri="{BB962C8B-B14F-4D97-AF65-F5344CB8AC3E}">
        <p14:creationId xmlns:p14="http://schemas.microsoft.com/office/powerpoint/2010/main" val="958940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BB915C-6F94-AC9A-9E1A-5FADB7C2918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996" b="1996"/>
          <a:stretch/>
        </p:blipFill>
        <p:spPr/>
      </p:pic>
    </p:spTree>
    <p:extLst>
      <p:ext uri="{BB962C8B-B14F-4D97-AF65-F5344CB8AC3E}">
        <p14:creationId xmlns:p14="http://schemas.microsoft.com/office/powerpoint/2010/main" val="138363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733E-D767-3AC2-04A7-69E5FD97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FFE9C9-9C71-D595-387F-F8C47AC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Dynamic Column Setting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A7A477-BE4A-A724-3F0F-F7BC799B2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7380"/>
            <a:ext cx="6735764" cy="7862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45646A-28AB-7D16-7C5D-DDE352951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8" r="4733"/>
          <a:stretch/>
        </p:blipFill>
        <p:spPr>
          <a:xfrm>
            <a:off x="6248400" y="2545080"/>
            <a:ext cx="1127990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09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DE8C7411-AEF6-D5EA-1799-468AC927FE2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045" b="2045"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System </a:t>
            </a:r>
            <a:r>
              <a:rPr lang="en-US" dirty="0"/>
              <a:t>Column</a:t>
            </a:r>
          </a:p>
        </p:txBody>
      </p:sp>
    </p:spTree>
    <p:extLst>
      <p:ext uri="{BB962C8B-B14F-4D97-AF65-F5344CB8AC3E}">
        <p14:creationId xmlns:p14="http://schemas.microsoft.com/office/powerpoint/2010/main" val="367121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F8A1-492E-D225-2B6B-B6D52915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118052-DF54-D4A4-9B78-FE0346D9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System </a:t>
            </a:r>
            <a:r>
              <a:rPr lang="en-US" dirty="0"/>
              <a:t>Column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F715DD8-28C1-CD0F-1DB2-0498EEE0A77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716" b="2716"/>
          <a:stretch/>
        </p:blipFill>
        <p:spPr/>
      </p:pic>
    </p:spTree>
    <p:extLst>
      <p:ext uri="{BB962C8B-B14F-4D97-AF65-F5344CB8AC3E}">
        <p14:creationId xmlns:p14="http://schemas.microsoft.com/office/powerpoint/2010/main" val="2579691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04C3DAC-A0C0-D8E6-39CD-98A246CCD1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3543" b="3543"/>
          <a:stretch/>
        </p:blipFill>
        <p:spPr/>
      </p:pic>
    </p:spTree>
    <p:extLst>
      <p:ext uri="{BB962C8B-B14F-4D97-AF65-F5344CB8AC3E}">
        <p14:creationId xmlns:p14="http://schemas.microsoft.com/office/powerpoint/2010/main" val="326504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FDD03F5-C089-A145-0F38-70C4AADD97C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677" b="2677"/>
          <a:stretch/>
        </p:blipFill>
        <p:spPr>
          <a:xfrm>
            <a:off x="-12700" y="1652588"/>
            <a:ext cx="18288000" cy="8640762"/>
          </a:xfrm>
        </p:spPr>
      </p:pic>
    </p:spTree>
    <p:extLst>
      <p:ext uri="{BB962C8B-B14F-4D97-AF65-F5344CB8AC3E}">
        <p14:creationId xmlns:p14="http://schemas.microsoft.com/office/powerpoint/2010/main" val="1548382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CF3-8133-6283-0B32-0AA491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D024FB-41DA-AF68-5E05-C4A9625A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List View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199E70D8-6424-DF68-676C-191382451D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143" b="2143"/>
          <a:stretch/>
        </p:blipFill>
        <p:spPr/>
      </p:pic>
    </p:spTree>
    <p:extLst>
      <p:ext uri="{BB962C8B-B14F-4D97-AF65-F5344CB8AC3E}">
        <p14:creationId xmlns:p14="http://schemas.microsoft.com/office/powerpoint/2010/main" val="3375647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36F41067-6A9B-248C-BB16-9376D2F935F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9107" b="9107"/>
          <a:stretch/>
        </p:blipFill>
        <p:spPr>
          <a:xfrm>
            <a:off x="343199" y="1647000"/>
            <a:ext cx="17640001" cy="8333859"/>
          </a:xfrm>
        </p:spPr>
      </p:pic>
    </p:spTree>
    <p:extLst>
      <p:ext uri="{BB962C8B-B14F-4D97-AF65-F5344CB8AC3E}">
        <p14:creationId xmlns:p14="http://schemas.microsoft.com/office/powerpoint/2010/main" val="249869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2898742-7D9C-D455-5500-44DD47434F2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652" b="7652"/>
          <a:stretch/>
        </p:blipFill>
        <p:spPr/>
      </p:pic>
    </p:spTree>
    <p:extLst>
      <p:ext uri="{BB962C8B-B14F-4D97-AF65-F5344CB8AC3E}">
        <p14:creationId xmlns:p14="http://schemas.microsoft.com/office/powerpoint/2010/main" val="126231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1A595C8-E79E-8379-CEA2-2F0E17291A2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128" b="5128"/>
          <a:stretch/>
        </p:blipFill>
        <p:spPr/>
      </p:pic>
    </p:spTree>
    <p:extLst>
      <p:ext uri="{BB962C8B-B14F-4D97-AF65-F5344CB8AC3E}">
        <p14:creationId xmlns:p14="http://schemas.microsoft.com/office/powerpoint/2010/main" val="2378652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3D6D-3269-CDC4-C6FE-1DF37517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D31A76-AF79-E867-F1D8-269AF3EB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1BAD030-CA51-21DD-C902-F7F1CA193A1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7971" b="7971"/>
          <a:stretch/>
        </p:blipFill>
        <p:spPr/>
      </p:pic>
    </p:spTree>
    <p:extLst>
      <p:ext uri="{BB962C8B-B14F-4D97-AF65-F5344CB8AC3E}">
        <p14:creationId xmlns:p14="http://schemas.microsoft.com/office/powerpoint/2010/main" val="377918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176-F051-EECB-CA50-D6E847FE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F9AC3-DDC2-5E69-44D4-2103D237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1295BF0-07FF-D388-E5F8-53D9BECB2B2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136" b="5136"/>
          <a:stretch/>
        </p:blipFill>
        <p:spPr/>
      </p:pic>
    </p:spTree>
    <p:extLst>
      <p:ext uri="{BB962C8B-B14F-4D97-AF65-F5344CB8AC3E}">
        <p14:creationId xmlns:p14="http://schemas.microsoft.com/office/powerpoint/2010/main" val="3709399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3D6D-3269-CDC4-C6FE-1DF37517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D31A76-AF79-E867-F1D8-269AF3EB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Manage Access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47EB256-9E25-7464-493F-E10BB0BEDC7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34" r="434"/>
          <a:stretch/>
        </p:blipFill>
        <p:spPr/>
      </p:pic>
    </p:spTree>
    <p:extLst>
      <p:ext uri="{BB962C8B-B14F-4D97-AF65-F5344CB8AC3E}">
        <p14:creationId xmlns:p14="http://schemas.microsoft.com/office/powerpoint/2010/main" val="2598994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F2D4-EE8F-6712-04E7-235CC71B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3DFA8A-0AB8-71E6-C1B2-00CA5215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Trash Screen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EF63BF3-67CF-E7C0-1D8D-D270A1045BA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675" r="675"/>
          <a:stretch/>
        </p:blipFill>
        <p:spPr/>
      </p:pic>
    </p:spTree>
    <p:extLst>
      <p:ext uri="{BB962C8B-B14F-4D97-AF65-F5344CB8AC3E}">
        <p14:creationId xmlns:p14="http://schemas.microsoft.com/office/powerpoint/2010/main" val="33464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F2D4-EE8F-6712-04E7-235CC71B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3DFA8A-0AB8-71E6-C1B2-00CA5215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0"/>
            <a:ext cx="14580000" cy="1647000"/>
          </a:xfrm>
        </p:spPr>
        <p:txBody>
          <a:bodyPr wrap="square" anchor="ctr">
            <a:normAutofit/>
          </a:bodyPr>
          <a:lstStyle/>
          <a:p>
            <a:r>
              <a:rPr lang="en-US"/>
              <a:t>Trash Screen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FF37A8C-E777-75F5-FF3D-A62CCD4BB39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27" b="127"/>
          <a:stretch/>
        </p:blipFill>
        <p:spPr/>
      </p:pic>
    </p:spTree>
    <p:extLst>
      <p:ext uri="{BB962C8B-B14F-4D97-AF65-F5344CB8AC3E}">
        <p14:creationId xmlns:p14="http://schemas.microsoft.com/office/powerpoint/2010/main" val="2547411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3306-D96C-F23E-D98C-D03D1053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3EF90ED-AEED-A160-1BCE-A3CD84AD9E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383" y="2382"/>
          <a:ext cx="1841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3EF90ED-AEED-A160-1BCE-A3CD84AD9E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3" y="2382"/>
                        <a:ext cx="1841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AC88A2-8CBC-9629-9F61-1ECA954DFD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28F7F58-5182-D291-B326-EF091C452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01324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5591</Words>
  <Application>Microsoft Office PowerPoint</Application>
  <PresentationFormat>Custom</PresentationFormat>
  <Paragraphs>1063</Paragraphs>
  <Slides>44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Cascadia Mono</vt:lpstr>
      <vt:lpstr>Aptos</vt:lpstr>
      <vt:lpstr>bbv template EN</vt:lpstr>
      <vt:lpstr>think-cell Slide</vt:lpstr>
      <vt:lpstr>Presentation on MS Lists Functionalities</vt:lpstr>
      <vt:lpstr>Agenda</vt:lpstr>
      <vt:lpstr>Introduction</vt:lpstr>
      <vt:lpstr>Introduction</vt:lpstr>
      <vt:lpstr>Key Functionalities</vt:lpstr>
      <vt:lpstr>Key Functionalities of MS Lists</vt:lpstr>
      <vt:lpstr>Dashboard Screen</vt:lpstr>
      <vt:lpstr>Dashboard Screen</vt:lpstr>
      <vt:lpstr>Dashboard Screen</vt:lpstr>
      <vt:lpstr>Dashboard Screen</vt:lpstr>
      <vt:lpstr>Create List Screen</vt:lpstr>
      <vt:lpstr>Create List Screen</vt:lpstr>
      <vt:lpstr>Create List From List Type</vt:lpstr>
      <vt:lpstr>Create List From List Type</vt:lpstr>
      <vt:lpstr>Create List Screen</vt:lpstr>
      <vt:lpstr>Create List Screen</vt:lpstr>
      <vt:lpstr>Create List From Template</vt:lpstr>
      <vt:lpstr>Create List From Template</vt:lpstr>
      <vt:lpstr>Template View &amp; Template Column</vt:lpstr>
      <vt:lpstr>Template View &amp; Template Column</vt:lpstr>
      <vt:lpstr>List Management</vt:lpstr>
      <vt:lpstr>List Management</vt:lpstr>
      <vt:lpstr>List Row Detail</vt:lpstr>
      <vt:lpstr>List Row Detail</vt:lpstr>
      <vt:lpstr>List Dynamic Column</vt:lpstr>
      <vt:lpstr>List Dynamic Column</vt:lpstr>
      <vt:lpstr>Dynamic Column Setting</vt:lpstr>
      <vt:lpstr>Dynamic Column Setting</vt:lpstr>
      <vt:lpstr>Dynamic Column Setting</vt:lpstr>
      <vt:lpstr>Dynamic Column Setting</vt:lpstr>
      <vt:lpstr>System Column</vt:lpstr>
      <vt:lpstr>System Column</vt:lpstr>
      <vt:lpstr>List View</vt:lpstr>
      <vt:lpstr>List View</vt:lpstr>
      <vt:lpstr>List View</vt:lpstr>
      <vt:lpstr>Manage Access</vt:lpstr>
      <vt:lpstr>Manage Access</vt:lpstr>
      <vt:lpstr>Manage Access</vt:lpstr>
      <vt:lpstr>Manage Access</vt:lpstr>
      <vt:lpstr>Manage Access</vt:lpstr>
      <vt:lpstr>Manage Access</vt:lpstr>
      <vt:lpstr>Trash Screen</vt:lpstr>
      <vt:lpstr>Trash Screen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Young Professional Internship Program</dc:title>
  <dc:creator>Dũng Trần</dc:creator>
  <cp:lastModifiedBy>Dũng Trần</cp:lastModifiedBy>
  <cp:revision>18</cp:revision>
  <dcterms:created xsi:type="dcterms:W3CDTF">2006-08-16T00:00:00Z</dcterms:created>
  <dcterms:modified xsi:type="dcterms:W3CDTF">2025-08-09T15:21:57Z</dcterms:modified>
  <dc:identifier>DAGuFyPGShM</dc:identifier>
</cp:coreProperties>
</file>
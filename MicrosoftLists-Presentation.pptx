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7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8.xml" ContentType="application/vnd.openxmlformats-officedocument.presentationml.tags+xml"/>
  <Override PartName="/ppt/notesSlides/notesSlide5.xml" ContentType="application/vnd.openxmlformats-officedocument.presentationml.notesSlide+xml"/>
  <Override PartName="/ppt/tags/tag29.xml" ContentType="application/vnd.openxmlformats-officedocument.presentationml.tags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tags/tag30.xml" ContentType="application/vnd.openxmlformats-officedocument.presentationml.tags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tags/tag31.xml" ContentType="application/vnd.openxmlformats-officedocument.presentationml.tags+xml"/>
  <Override PartName="/ppt/notesSlides/notesSlide39.xml" ContentType="application/vnd.openxmlformats-officedocument.presentationml.notesSlide+xml"/>
  <Override PartName="/ppt/tags/tag32.xml" ContentType="application/vnd.openxmlformats-officedocument.presentationml.tags+xml"/>
  <Override PartName="/ppt/notesSlides/notesSlide4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  <p:sldMasterId id="2147483660" r:id="rId2"/>
  </p:sldMasterIdLst>
  <p:notesMasterIdLst>
    <p:notesMasterId r:id="rId45"/>
  </p:notesMasterIdLst>
  <p:sldIdLst>
    <p:sldId id="321" r:id="rId3"/>
    <p:sldId id="330" r:id="rId4"/>
    <p:sldId id="290" r:id="rId5"/>
    <p:sldId id="331" r:id="rId6"/>
    <p:sldId id="294" r:id="rId7"/>
    <p:sldId id="2145705951" r:id="rId8"/>
    <p:sldId id="2145705925" r:id="rId9"/>
    <p:sldId id="2145705952" r:id="rId10"/>
    <p:sldId id="2145705988" r:id="rId11"/>
    <p:sldId id="2145706005" r:id="rId12"/>
    <p:sldId id="2145706025" r:id="rId13"/>
    <p:sldId id="2145706026" r:id="rId14"/>
    <p:sldId id="2145705990" r:id="rId15"/>
    <p:sldId id="2145706027" r:id="rId16"/>
    <p:sldId id="2145705991" r:id="rId17"/>
    <p:sldId id="2145706028" r:id="rId18"/>
    <p:sldId id="2145705978" r:id="rId19"/>
    <p:sldId id="2145706029" r:id="rId20"/>
    <p:sldId id="2145706031" r:id="rId21"/>
    <p:sldId id="2145706030" r:id="rId22"/>
    <p:sldId id="2145706036" r:id="rId23"/>
    <p:sldId id="2145706037" r:id="rId24"/>
    <p:sldId id="2145706033" r:id="rId25"/>
    <p:sldId id="2145706034" r:id="rId26"/>
    <p:sldId id="2145706035" r:id="rId27"/>
    <p:sldId id="2145706011" r:id="rId28"/>
    <p:sldId id="2145706021" r:id="rId29"/>
    <p:sldId id="2145706012" r:id="rId30"/>
    <p:sldId id="2145706023" r:id="rId31"/>
    <p:sldId id="2145706013" r:id="rId32"/>
    <p:sldId id="2145706017" r:id="rId33"/>
    <p:sldId id="2145706018" r:id="rId34"/>
    <p:sldId id="2145706014" r:id="rId35"/>
    <p:sldId id="2145706016" r:id="rId36"/>
    <p:sldId id="2145706022" r:id="rId37"/>
    <p:sldId id="2145706024" r:id="rId38"/>
    <p:sldId id="2145706015" r:id="rId39"/>
    <p:sldId id="2145706004" r:id="rId40"/>
    <p:sldId id="2145705823" r:id="rId41"/>
    <p:sldId id="2145705934" r:id="rId42"/>
    <p:sldId id="2145705791" r:id="rId43"/>
    <p:sldId id="2145705742" r:id="rId44"/>
  </p:sldIdLst>
  <p:sldSz cx="18288000" cy="10287000"/>
  <p:notesSz cx="6858000" cy="9144000"/>
  <p:embeddedFontLst>
    <p:embeddedFont>
      <p:font typeface="Cascadia Mono" panose="020B0609020000020004" pitchFamily="49" charset="0"/>
      <p:regular r:id="rId46"/>
      <p:bold r:id="rId47"/>
      <p:italic r:id="rId48"/>
      <p:boldItalic r:id="rId4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145705951"/>
            <p14:sldId id="2145705925"/>
            <p14:sldId id="2145705952"/>
            <p14:sldId id="2145705988"/>
            <p14:sldId id="2145706005"/>
            <p14:sldId id="2145706025"/>
            <p14:sldId id="2145706026"/>
            <p14:sldId id="2145705990"/>
            <p14:sldId id="2145706027"/>
            <p14:sldId id="2145705991"/>
            <p14:sldId id="2145706028"/>
            <p14:sldId id="2145705978"/>
            <p14:sldId id="2145706029"/>
            <p14:sldId id="2145706031"/>
            <p14:sldId id="2145706030"/>
            <p14:sldId id="2145706036"/>
            <p14:sldId id="2145706037"/>
            <p14:sldId id="2145706033"/>
            <p14:sldId id="2145706034"/>
            <p14:sldId id="2145706035"/>
            <p14:sldId id="2145706011"/>
            <p14:sldId id="2145706021"/>
            <p14:sldId id="2145706012"/>
            <p14:sldId id="2145706023"/>
            <p14:sldId id="2145706013"/>
            <p14:sldId id="2145706017"/>
            <p14:sldId id="2145706018"/>
            <p14:sldId id="2145706014"/>
            <p14:sldId id="2145706016"/>
            <p14:sldId id="2145706022"/>
            <p14:sldId id="2145706024"/>
            <p14:sldId id="2145706015"/>
            <p14:sldId id="2145706004"/>
            <p14:sldId id="2145705823"/>
            <p14:sldId id="2145705934"/>
            <p14:sldId id="2145705791"/>
            <p14:sldId id="2145705742"/>
          </p14:sldIdLst>
        </p14:section>
        <p14:section name="Default Section" id="{4A2A6805-F643-43CA-A264-483E695524C1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99" autoAdjust="0"/>
    <p:restoredTop sz="95033" autoAdjust="0"/>
  </p:normalViewPr>
  <p:slideViewPr>
    <p:cSldViewPr>
      <p:cViewPr>
        <p:scale>
          <a:sx n="50" d="100"/>
          <a:sy n="50" d="100"/>
        </p:scale>
        <p:origin x="970" y="12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50" d="100"/>
        <a:sy n="15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slide" Target="slides/slide24.xml"/><Relationship Id="rId39" Type="http://schemas.openxmlformats.org/officeDocument/2006/relationships/slide" Target="slides/slide37.xml"/><Relationship Id="rId21" Type="http://schemas.openxmlformats.org/officeDocument/2006/relationships/slide" Target="slides/slide19.xml"/><Relationship Id="rId34" Type="http://schemas.openxmlformats.org/officeDocument/2006/relationships/slide" Target="slides/slide32.xml"/><Relationship Id="rId42" Type="http://schemas.openxmlformats.org/officeDocument/2006/relationships/slide" Target="slides/slide40.xml"/><Relationship Id="rId47" Type="http://schemas.openxmlformats.org/officeDocument/2006/relationships/font" Target="fonts/font2.fntdata"/><Relationship Id="rId50" Type="http://schemas.openxmlformats.org/officeDocument/2006/relationships/presProps" Target="presProps.xml"/><Relationship Id="rId7" Type="http://schemas.openxmlformats.org/officeDocument/2006/relationships/slide" Target="slides/slide5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9" Type="http://schemas.openxmlformats.org/officeDocument/2006/relationships/slide" Target="slides/slide27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32" Type="http://schemas.openxmlformats.org/officeDocument/2006/relationships/slide" Target="slides/slide30.xml"/><Relationship Id="rId37" Type="http://schemas.openxmlformats.org/officeDocument/2006/relationships/slide" Target="slides/slide35.xml"/><Relationship Id="rId40" Type="http://schemas.openxmlformats.org/officeDocument/2006/relationships/slide" Target="slides/slide38.xml"/><Relationship Id="rId45" Type="http://schemas.openxmlformats.org/officeDocument/2006/relationships/notesMaster" Target="notesMasters/notesMaster1.xml"/><Relationship Id="rId53" Type="http://schemas.openxmlformats.org/officeDocument/2006/relationships/tableStyles" Target="tableStyles.xml"/><Relationship Id="rId5" Type="http://schemas.openxmlformats.org/officeDocument/2006/relationships/slide" Target="slides/slide3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31" Type="http://schemas.openxmlformats.org/officeDocument/2006/relationships/slide" Target="slides/slide29.xml"/><Relationship Id="rId44" Type="http://schemas.openxmlformats.org/officeDocument/2006/relationships/slide" Target="slides/slide42.xml"/><Relationship Id="rId52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slide" Target="slides/slide25.xml"/><Relationship Id="rId30" Type="http://schemas.openxmlformats.org/officeDocument/2006/relationships/slide" Target="slides/slide28.xml"/><Relationship Id="rId35" Type="http://schemas.openxmlformats.org/officeDocument/2006/relationships/slide" Target="slides/slide33.xml"/><Relationship Id="rId43" Type="http://schemas.openxmlformats.org/officeDocument/2006/relationships/slide" Target="slides/slide41.xml"/><Relationship Id="rId48" Type="http://schemas.openxmlformats.org/officeDocument/2006/relationships/font" Target="fonts/font3.fntdata"/><Relationship Id="rId8" Type="http://schemas.openxmlformats.org/officeDocument/2006/relationships/slide" Target="slides/slide6.xml"/><Relationship Id="rId51" Type="http://schemas.openxmlformats.org/officeDocument/2006/relationships/viewProps" Target="viewProps.xml"/><Relationship Id="rId3" Type="http://schemas.openxmlformats.org/officeDocument/2006/relationships/slide" Target="slides/slide1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slide" Target="slides/slide23.xml"/><Relationship Id="rId33" Type="http://schemas.openxmlformats.org/officeDocument/2006/relationships/slide" Target="slides/slide31.xml"/><Relationship Id="rId38" Type="http://schemas.openxmlformats.org/officeDocument/2006/relationships/slide" Target="slides/slide36.xml"/><Relationship Id="rId46" Type="http://schemas.openxmlformats.org/officeDocument/2006/relationships/font" Target="fonts/font1.fntdata"/><Relationship Id="rId20" Type="http://schemas.openxmlformats.org/officeDocument/2006/relationships/slide" Target="slides/slide18.xml"/><Relationship Id="rId41" Type="http://schemas.openxmlformats.org/officeDocument/2006/relationships/slide" Target="slides/slide3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slide" Target="slides/slide26.xml"/><Relationship Id="rId36" Type="http://schemas.openxmlformats.org/officeDocument/2006/relationships/slide" Target="slides/slide34.xml"/><Relationship Id="rId49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D7F3D95-C6A4-4231-825D-6C7EF1D6A15A}" type="datetimeFigureOut">
              <a:rPr lang="en-US" smtClean="0"/>
              <a:t>8/8/2025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1C2FD7-E7E2-4303-A14F-1AE6540A7DC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7129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</a:t>
            </a:fld>
            <a:endParaRPr kumimoji="0" lang="de-CH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1926261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5655DA-FFB3-CD96-49C7-13E5BD21EA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FD26C4-EB8E-F90B-B6B1-637DEBE50DF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10F57F-EAD8-D5E8-5D44-20FF564AF83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438117-AC65-D396-6A73-AA306EAD63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191145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968639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Dashboard Screen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information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DECLARE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da-DK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 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da-DK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da-DK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da-DK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DungTran910@live.com</a:t>
            </a:r>
            <a:endParaRPr lang="da-DK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Company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lists created by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Account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favorite lists of a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ListStatus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FavoriteList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@AccountId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UpdatedAt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751784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636006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list types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ListType lt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866910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320424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HeaderImage of a specific list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ListType lt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workspaces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WorkspaceId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UserId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WorkspaceMember wm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Workspace 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WorkspaceId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3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wm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8536360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6206274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 Create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providers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TemplateProvider tp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templates of a specific provider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HeaderImage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TemplateProvider tp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ProviderId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901556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4917725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basic information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Summary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Feature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ListTemplate lt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sample data of a specific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CellValue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tcol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TemplateSampleRow 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TemplateSampleCell tcell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trow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tcell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TemplateSampleRowId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tcol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177600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725439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Create List From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template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 tv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TemplateViewSetting tvs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TemplateViewId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columns of a template and their setting value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TemplateColumnSettingValue tcsv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TemplateColumnId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TemplateColumn tc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'TEMPLATE'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ListTemplateId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9110430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199050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3746D8-A98D-E58D-9049-DD11AE3E12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28D687-1A89-2E5F-24AF-3DB635F0B4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59022-9C4B-D2E4-03CC-97759A0ECF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ColumnName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ColumnName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[Value]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CellValue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ListCellValue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lcvl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SystemDataTypeId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column setting object of needed columns (choice)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ListDynamicColumnId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DisplayColor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ListColumnSettingObject lcso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ListDynamicColumn ldc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lcso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Context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'LIST'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LDC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 lv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DisplayOrder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settings of a specific list view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GroupByColumnId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RawValue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ListViewSetting lvs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ListViewId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462837-36F6-927C-2D26-2DB453868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6230054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C219F7-E2DD-C321-295C-84BBBC9F1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D80503-E601-0929-78FB-B6C64D79E4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F8AE24E-F718-9012-D15E-DD5440E812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comment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RowId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Content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ListRowComment lrc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ListRowId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lrc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UpdateAt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attachment files of a row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[FileName]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FileUrl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FileAttachment fa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ListItemId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ORDER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BY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fa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CreateAt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DESC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CF667A2-657E-E247-49AE-886476D7CD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386405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FC9F89-C2F3-A793-42C1-272DB6F25E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226814-0B6B-08AB-55DA-46578D02A6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5AF9FE8-F9DE-E7B4-FA00-B650D3094D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Management</a:t>
            </a:r>
          </a:p>
          <a:p>
            <a:endParaRPr lang="en-US" sz="1800">
              <a:solidFill>
                <a:srgbClr val="008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system data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sdt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DisplayName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SystemDataType sdt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3CC2C7A-97C9-23B8-72BB-7F9175433E6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42512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271600-1335-5F0E-9E0A-E271E66D4F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77D4E5-D91A-3E34-6F44-FD73F4E2A1C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A79FA8D-E17F-3200-B35B-E411E27C7D1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982208F-BFBB-563F-7208-942FE8D00B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2768545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EB690-28F4-65A8-EEA1-5F74668B56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575360B-D8A8-416A-21D0-2ABDE8FF96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F9E59B4-8498-84F4-0E0A-19755743E4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4000"/>
              <a:t>-- List Column Setting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key setting of a specific system data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KeySetting ks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datatype settings of a specific column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DataTypeSettingKey dtsk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ListColumnSettingValue lcsv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DataTypeSettingKeyId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lcsv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ColumnId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dtsk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DataTypeId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0A25693-157E-8626-435E-412ABE75B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069854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64D124-AD52-D05F-48B0-9D77A512C5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E54FB84-DDE4-EF79-0B16-8407A1C0BF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62997B-7F9F-6ABB-B078-3487847182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E8FC66-8523-E2EA-FD1D-EE040E3C15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0270152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00D828-DE99-C24D-E243-872AE3CBC4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63D1838-6DF2-7AAE-BCDE-CAAE907963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B49E58-EA2B-CCB7-0FA3-5E04C0D71FD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List View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view types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Title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 vt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view type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SettingKey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ViewSetting vs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ViewTypeSetting vts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ViewSettingId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vts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ViewTypeId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4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36E4267-EBDD-9539-944F-6C69E4E88C3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778387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F24CCA-C3B4-516C-25A0-F98631C06A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5CE4A6-DE49-E700-5150-955A69E3289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8BAD9F-4139-8F56-F348-DB3D094F07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9FDBC40-CBD7-A9E8-6C95-8D976F1C2E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56106546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145200-00AD-0C3B-E9EF-616CEAC024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9E19716-02C8-0F1D-00E4-9257777E4F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601E8D-9E80-A4EB-AA21-B9655992929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593D24-BE39-C590-93B8-C38EEF31F8F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5030818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FBECC3-2F9C-7525-028D-9555F3D42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C6D18DD-7638-501D-AAB9-79E382CC662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94F007-CA97-6512-0C20-C5E457CF9D5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40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permisions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scopes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[Description]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 settings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current list members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AS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Email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FirstName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LastName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ListMemberPermission lmp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lmp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;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BA3AC75-EC55-A7A8-0087-73657FB86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33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5201849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8543D-D628-473C-4BCB-F8A9B0CACD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B78605-2336-D60F-2204-29F9C5E207F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F3AB5A-0E0B-700F-BC74-EEB04461AF2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0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</a:t>
            </a:r>
            <a:r>
              <a:rPr lang="en-US" sz="1800"/>
              <a:t>Manage Access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sharelinks of a specific list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[URL]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Note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[Name]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Avatar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Email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 sl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Scope s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ScopeId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Permission p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PermissionId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p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ShareLinkUserAccess slua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Code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FF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'SPECIFIC'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Account a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slua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AccountId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a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sl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ListId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 </a:t>
            </a:r>
          </a:p>
          <a:p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settings of a specific sharelink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ValueType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DefaultValue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KeyValue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KeySetting ks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LEFT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ShareLinkSettingValue slsv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KeySettingId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AND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slsv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ShareLinkId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ks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isShareLinkSetting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44E4B9-DDEF-66E6-194E-50739D4122F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34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254663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E701D4-58A9-7CEE-FCEC-DD3E9FBC5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A3240BA-C427-A255-9D70-005CB5F234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5DA3D27-537B-60ED-DFB6-AC7EFF9C42B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0F9981E-B4A0-7010-8754-B98F8DA88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35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965945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747317-0955-6CA9-57BF-464D15FBA2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E67AB7-32E5-AF3F-1F38-02C0C6E0A54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7835A5D-BEBB-0C42-CE71-39414A4A3B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8E890C3-32FC-6F53-F29B-38C21B0261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36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24570550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6D0E-3DFB-3CBE-9FE3-DEE6F766BA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487C8F1-0B57-4A04-1A2C-AE8B202299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1B7823-B6F6-5D02-C374-FAADDE7FBF9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SCREEN: TRASH 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8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-- Get all trash items of a specific user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SELECT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ObjectName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ObjectTypeId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Icon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DeleteBy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DeletedAt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ObjectStatus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,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[Path]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FROM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TrashItem ti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INNER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JOIN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ObjectType ot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ON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ObjectId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ot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Id</a:t>
            </a: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</a:t>
            </a:r>
            <a:r>
              <a:rPr lang="en-US" sz="1800">
                <a:solidFill>
                  <a:srgbClr val="0000FF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WHERE</a:t>
            </a:r>
            <a:endParaRPr lang="en-US" sz="1800">
              <a:solidFill>
                <a:srgbClr val="000000"/>
              </a:solidFill>
              <a:highlight>
                <a:srgbClr val="FFFFFF"/>
              </a:highlight>
              <a:latin typeface="Cascadia Mono" panose="020B0609020000020004" pitchFamily="49" charset="0"/>
            </a:endParaRPr>
          </a:p>
          <a:p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       ti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.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CreatedBy </a:t>
            </a:r>
            <a:r>
              <a:rPr lang="en-US" sz="1800">
                <a:solidFill>
                  <a:srgbClr val="80808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=</a:t>
            </a:r>
            <a:r>
              <a:rPr lang="en-US" sz="1800">
                <a:solidFill>
                  <a:srgbClr val="000000"/>
                </a:solidFill>
                <a:highlight>
                  <a:srgbClr val="FFFFFF"/>
                </a:highlight>
                <a:latin typeface="Cascadia Mono" panose="020B0609020000020004" pitchFamily="49" charset="0"/>
              </a:rPr>
              <a:t> 1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D57B96-95AA-0582-C762-3620C3342D0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37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2589171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0447F-1CB7-04D9-0ABB-E37A07606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AB055D-4B30-A59E-E929-5D5C47DDF8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521A2DD-CFBC-9487-1529-1ED478A5C0F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D22A52D-A0FB-6089-A27B-06DBDB7300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38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18549862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39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40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41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A4FF178-7F5C-4C53-AC97-DF4205D97146}" type="slidenum">
              <a:rPr kumimoji="0" lang="de-CH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42</a:t>
            </a:fld>
            <a:endParaRPr kumimoji="0" lang="de-CH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3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2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7.xml"/><Relationship Id="rId4" Type="http://schemas.openxmlformats.org/officeDocument/2006/relationships/image" Target="../media/image1.emf"/></Relationships>
</file>

<file path=ppt/slideLayouts/_rels/slideLayout2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8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2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19.xml"/><Relationship Id="rId4" Type="http://schemas.openxmlformats.org/officeDocument/2006/relationships/image" Target="../media/image1.emf"/></Relationships>
</file>

<file path=ppt/slideLayouts/_rels/slideLayout3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3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3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3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3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4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3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2.xml"/><Relationship Id="rId1" Type="http://schemas.openxmlformats.org/officeDocument/2006/relationships/tags" Target="../tags/tag26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chemeClr val="tx2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3636000" y="5056442"/>
            <a:ext cx="11234289" cy="182111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7142186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222616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3753800" y="2943000"/>
            <a:ext cx="3888000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52723532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2295000"/>
            <a:ext cx="7848000" cy="7344000"/>
          </a:xfrm>
        </p:spPr>
        <p:txBody>
          <a:bodyPr anchor="t"/>
          <a:lstStyle>
            <a:lvl1pPr marL="938213" indent="-938213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938213" indent="0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  <a:defRPr sz="24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409472261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>
          <p15:clr>
            <a:srgbClr val="FBAE40"/>
          </p15:clr>
        </p15:guide>
        <p15:guide id="9" pos="270">
          <p15:clr>
            <a:srgbClr val="FBAE40"/>
          </p15:clr>
        </p15:guide>
        <p15:guide id="10" pos="3839">
          <p15:clr>
            <a:srgbClr val="FBAE40"/>
          </p15:clr>
        </p15:guide>
        <p15:guide id="11" orient="horz" pos="4047">
          <p15:clr>
            <a:srgbClr val="FBAE40"/>
          </p15:clr>
        </p15:guide>
        <p15:guide id="12" orient="horz" pos="963">
          <p15:clr>
            <a:srgbClr val="FBAE40"/>
          </p15:clr>
        </p15:guide>
        <p15:guide id="13" pos="3567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647000"/>
            <a:ext cx="18288000" cy="8640000"/>
          </a:xfrm>
          <a:prstGeom prst="rect">
            <a:avLst/>
          </a:prstGeom>
          <a:solidFill>
            <a:srgbClr val="FFFFFF"/>
          </a:solidFill>
        </p:spPr>
        <p:txBody>
          <a:bodyPr wrap="square" lIns="108000" tIns="108000" rIns="108000" bIns="108000" rtlCol="0" anchor="ctr">
            <a:noAutofit/>
          </a:bodyPr>
          <a:lstStyle/>
          <a:p>
            <a:pPr algn="ctr" rtl="0"/>
            <a:endParaRPr lang="en-GB" sz="24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32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7999" y="8802000"/>
            <a:ext cx="16997063" cy="553998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3600">
                <a:solidFill>
                  <a:schemeClr val="tx2"/>
                </a:solidFill>
              </a:defRPr>
            </a:lvl1pPr>
            <a:lvl2pPr marL="685800" indent="0" algn="ctr">
              <a:buNone/>
              <a:defRPr sz="3000"/>
            </a:lvl2pPr>
            <a:lvl3pPr marL="1371600" indent="0" algn="ctr">
              <a:buNone/>
              <a:defRPr sz="2700"/>
            </a:lvl3pPr>
            <a:lvl4pPr marL="2057400" indent="0" algn="ctr">
              <a:buNone/>
              <a:defRPr sz="2400"/>
            </a:lvl4pPr>
            <a:lvl5pPr marL="2743200" indent="0" algn="ctr">
              <a:buNone/>
              <a:defRPr sz="2400"/>
            </a:lvl5pPr>
            <a:lvl6pPr marL="3429000" indent="0" algn="ctr">
              <a:buNone/>
              <a:defRPr sz="2400"/>
            </a:lvl6pPr>
            <a:lvl7pPr marL="4114800" indent="0" algn="ctr">
              <a:buNone/>
              <a:defRPr sz="2400"/>
            </a:lvl7pPr>
            <a:lvl8pPr marL="4800600" indent="0" algn="ctr">
              <a:buNone/>
              <a:defRPr sz="2400"/>
            </a:lvl8pPr>
            <a:lvl9pPr marL="5486400" indent="0" algn="ctr">
              <a:buNone/>
              <a:defRPr sz="24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7999" y="6369243"/>
            <a:ext cx="16997063" cy="2215992"/>
          </a:xfrm>
        </p:spPr>
        <p:txBody>
          <a:bodyPr vert="horz" anchor="b">
            <a:noAutofit/>
          </a:bodyPr>
          <a:lstStyle>
            <a:lvl1pPr algn="l" rtl="0">
              <a:defRPr sz="72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863511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>
          <p15:clr>
            <a:srgbClr val="FBAE40"/>
          </p15:clr>
        </p15:guide>
        <p15:guide id="7" pos="7409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2293145"/>
            <a:ext cx="16993800" cy="734853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9275514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881"/>
            <a:ext cx="169938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69938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709604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>
          <p15:clr>
            <a:srgbClr val="FBAE40"/>
          </p15:clr>
        </p15:guide>
        <p15:guide id="14" pos="270">
          <p15:clr>
            <a:srgbClr val="FBAE40"/>
          </p15:clr>
        </p15:guide>
        <p15:guide id="15" orient="horz" pos="692">
          <p15:clr>
            <a:srgbClr val="FBAE40"/>
          </p15:clr>
        </p15:guide>
        <p15:guide id="16" orient="horz" pos="4049">
          <p15:clr>
            <a:srgbClr val="FBAE40"/>
          </p15:clr>
        </p15:guide>
        <p15:guide id="17" pos="7409">
          <p15:clr>
            <a:srgbClr val="FBAE40"/>
          </p15:clr>
        </p15:guide>
        <p15:guide id="18" orient="horz" pos="1359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1" y="3240881"/>
            <a:ext cx="8171999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1" y="2295000"/>
            <a:ext cx="8171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468000" y="3240881"/>
            <a:ext cx="8174682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468000" y="2295000"/>
            <a:ext cx="8174682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60332400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1359">
          <p15:clr>
            <a:srgbClr val="FBAE40"/>
          </p15:clr>
        </p15:guide>
        <p15:guide id="21" pos="3974">
          <p15:clr>
            <a:srgbClr val="FBAE40"/>
          </p15:clr>
        </p15:guide>
        <p15:guide id="22" pos="3705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2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5274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408000" y="3240881"/>
            <a:ext cx="5232000" cy="640080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408000" y="2295000"/>
            <a:ext cx="52326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17448196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210">
          <p15:clr>
            <a:srgbClr val="FBAE40"/>
          </p15:clr>
        </p15:guide>
        <p15:guide id="24" pos="4940">
          <p15:clr>
            <a:srgbClr val="FBAE40"/>
          </p15:clr>
        </p15:guide>
        <p15:guide id="25" pos="2740">
          <p15:clr>
            <a:srgbClr val="FBAE40"/>
          </p15:clr>
        </p15:guide>
        <p15:guide id="26" pos="247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400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8000" y="3240002"/>
            <a:ext cx="7848300" cy="6401682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8000" y="2295000"/>
            <a:ext cx="78483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097457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orient="horz" pos="1359">
          <p15:clr>
            <a:srgbClr val="FBAE40"/>
          </p15:clr>
        </p15:guide>
        <p15:guide id="22" pos="3568">
          <p15:clr>
            <a:srgbClr val="FBAE40"/>
          </p15:clr>
        </p15:guide>
        <p15:guide id="23" pos="3840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2805688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2427931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242982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4590941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5492">
          <p15:clr>
            <a:srgbClr val="FBAE40"/>
          </p15:clr>
        </p15:guide>
        <p15:guide id="24" pos="5762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2191397" y="1647000"/>
            <a:ext cx="6096603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3240001"/>
            <a:ext cx="10895999" cy="640168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9" y="2295000"/>
            <a:ext cx="10895999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12872137" y="7697684"/>
            <a:ext cx="4767864" cy="1944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83699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orient="horz" pos="1359">
          <p15:clr>
            <a:srgbClr val="FBAE40"/>
          </p15:clr>
        </p15:guide>
        <p15:guide id="23" pos="4848">
          <p15:clr>
            <a:srgbClr val="FBAE40"/>
          </p15:clr>
        </p15:guide>
        <p15:guide id="24" pos="512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7" y="3236120"/>
            <a:ext cx="5892534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7997" y="2295000"/>
            <a:ext cx="5892534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7188533" y="3236120"/>
            <a:ext cx="5887397" cy="6405563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188533" y="2295000"/>
            <a:ext cx="5887397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33484682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>
          <p15:clr>
            <a:srgbClr val="FBAE40"/>
          </p15:clr>
        </p15:guide>
        <p15:guide id="20" pos="270">
          <p15:clr>
            <a:srgbClr val="FBAE40"/>
          </p15:clr>
        </p15:guide>
        <p15:guide id="21" orient="horz" pos="692">
          <p15:clr>
            <a:srgbClr val="FBAE40"/>
          </p15:clr>
        </p15:guide>
        <p15:guide id="22" orient="horz" pos="4049">
          <p15:clr>
            <a:srgbClr val="FBAE40"/>
          </p15:clr>
        </p15:guide>
        <p15:guide id="23" orient="horz" pos="1359">
          <p15:clr>
            <a:srgbClr val="FBAE40"/>
          </p15:clr>
        </p15:guide>
        <p15:guide id="24" pos="5490">
          <p15:clr>
            <a:srgbClr val="FBAE40"/>
          </p15:clr>
        </p15:guide>
        <p15:guide id="25" pos="5760">
          <p15:clr>
            <a:srgbClr val="FBAE40"/>
          </p15:clr>
        </p15:guide>
        <p15:guide id="26" pos="3018">
          <p15:clr>
            <a:srgbClr val="FBAE40"/>
          </p15:clr>
        </p15:guide>
        <p15:guide id="27" pos="2747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9144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793781" y="2293145"/>
            <a:ext cx="7848903" cy="7344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1296002" y="6395930"/>
            <a:ext cx="7198200" cy="3245752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296002" y="6357834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8062202" y="9438783"/>
            <a:ext cx="432000" cy="380478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414224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7409">
          <p15:clr>
            <a:srgbClr val="FBAE40"/>
          </p15:clr>
        </p15:guide>
        <p15:guide id="22" pos="4112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2916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47999" y="5212859"/>
            <a:ext cx="16994684" cy="4428824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481423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>
          <p15:clr>
            <a:srgbClr val="FBAE40"/>
          </p15:clr>
        </p15:guide>
        <p15:guide id="16" pos="270">
          <p15:clr>
            <a:srgbClr val="FBAE40"/>
          </p15:clr>
        </p15:guide>
        <p15:guide id="17" orient="horz" pos="692">
          <p15:clr>
            <a:srgbClr val="FBAE40"/>
          </p15:clr>
        </p15:guide>
        <p15:guide id="18" orient="horz" pos="4049">
          <p15:clr>
            <a:srgbClr val="FBAE40"/>
          </p15:clr>
        </p15:guide>
        <p15:guide id="19" pos="7409">
          <p15:clr>
            <a:srgbClr val="FBAE40"/>
          </p15:clr>
        </p15:guide>
        <p15:guide id="20" orient="horz" pos="2187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8288000" cy="10287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48000" y="1647001"/>
            <a:ext cx="12960000" cy="1795767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6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6262148" y="258927"/>
            <a:ext cx="2025852" cy="1026546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5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29631548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>
          <p15:clr>
            <a:srgbClr val="FBAE40"/>
          </p15:clr>
        </p15:guide>
        <p15:guide id="4" pos="5715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647000"/>
            <a:ext cx="18288000" cy="864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6147926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9204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9484470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89204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9484470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574923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103416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436842741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7242598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894535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0233468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37338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37338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376271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376271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77737265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483699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11288949" y="571888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14526317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35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7206803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5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206803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593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8064000" y="2297048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13669119" y="475487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13669119" y="5275011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3979802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3979802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10431751" y="8176718"/>
            <a:ext cx="3874395" cy="4154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10431751" y="8696852"/>
            <a:ext cx="3874395" cy="945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450"/>
              </a:spcAft>
              <a:buNone/>
              <a:defRPr sz="18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1645370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>
          <p15:clr>
            <a:srgbClr val="FBAE40"/>
          </p15:clr>
        </p15:guide>
        <p15:guide id="13" pos="270">
          <p15:clr>
            <a:srgbClr val="FBAE40"/>
          </p15:clr>
        </p15:guide>
        <p15:guide id="14" orient="horz" pos="692">
          <p15:clr>
            <a:srgbClr val="FBAE40"/>
          </p15:clr>
        </p15:guide>
        <p15:guide id="15" orient="horz" pos="4049">
          <p15:clr>
            <a:srgbClr val="FBAE40"/>
          </p15:clr>
        </p15:guide>
        <p15:guide id="16" pos="7409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183997" y="3024000"/>
            <a:ext cx="7883916" cy="452817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183997" y="2281238"/>
            <a:ext cx="788391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48000" y="2295000"/>
            <a:ext cx="3240000" cy="32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83997" y="4271291"/>
            <a:ext cx="7883916" cy="1709493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183997" y="6803904"/>
            <a:ext cx="7883916" cy="2837778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8872465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>
          <p15:clr>
            <a:srgbClr val="FBAE40"/>
          </p15:clr>
        </p15:guide>
        <p15:guide id="18" pos="270">
          <p15:clr>
            <a:srgbClr val="FBAE40"/>
          </p15:clr>
        </p15:guide>
        <p15:guide id="19" orient="horz" pos="692">
          <p15:clr>
            <a:srgbClr val="FBAE40"/>
          </p15:clr>
        </p15:guide>
        <p15:guide id="20" orient="horz" pos="4049">
          <p15:clr>
            <a:srgbClr val="FBAE40"/>
          </p15:clr>
        </p15:guide>
        <p15:guide id="21" pos="5760">
          <p15:clr>
            <a:srgbClr val="FBAE40"/>
          </p15:clr>
        </p15:guide>
      </p15:sldGuideLst>
    </p:ext>
  </p:extLs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3719600" y="1647000"/>
            <a:ext cx="4568400" cy="864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16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7187487" y="7314452"/>
            <a:ext cx="5880426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516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8000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7187487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7187487" y="5764314"/>
            <a:ext cx="5880426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7187487" y="5021552"/>
            <a:ext cx="5880426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095890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65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53415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647999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647999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64800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653415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53415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53415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12418220" y="7314452"/>
            <a:ext cx="5219700" cy="2327231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12418220" y="2295000"/>
            <a:ext cx="2430000" cy="243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12418220" y="5764314"/>
            <a:ext cx="5219700" cy="951414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12418220" y="5021552"/>
            <a:ext cx="5219700" cy="507831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22262467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13" Type="http://schemas.openxmlformats.org/officeDocument/2006/relationships/slideLayout" Target="../slideLayouts/slideLayout24.xml"/><Relationship Id="rId18" Type="http://schemas.openxmlformats.org/officeDocument/2006/relationships/slideLayout" Target="../slideLayouts/slideLayout29.xml"/><Relationship Id="rId26" Type="http://schemas.openxmlformats.org/officeDocument/2006/relationships/theme" Target="../theme/theme2.xml"/><Relationship Id="rId3" Type="http://schemas.openxmlformats.org/officeDocument/2006/relationships/slideLayout" Target="../slideLayouts/slideLayout14.xml"/><Relationship Id="rId21" Type="http://schemas.openxmlformats.org/officeDocument/2006/relationships/slideLayout" Target="../slideLayouts/slideLayout32.xml"/><Relationship Id="rId7" Type="http://schemas.openxmlformats.org/officeDocument/2006/relationships/slideLayout" Target="../slideLayouts/slideLayout18.xml"/><Relationship Id="rId12" Type="http://schemas.openxmlformats.org/officeDocument/2006/relationships/slideLayout" Target="../slideLayouts/slideLayout23.xml"/><Relationship Id="rId17" Type="http://schemas.openxmlformats.org/officeDocument/2006/relationships/slideLayout" Target="../slideLayouts/slideLayout28.xml"/><Relationship Id="rId25" Type="http://schemas.openxmlformats.org/officeDocument/2006/relationships/slideLayout" Target="../slideLayouts/slideLayout36.xml"/><Relationship Id="rId2" Type="http://schemas.openxmlformats.org/officeDocument/2006/relationships/slideLayout" Target="../slideLayouts/slideLayout13.xml"/><Relationship Id="rId16" Type="http://schemas.openxmlformats.org/officeDocument/2006/relationships/slideLayout" Target="../slideLayouts/slideLayout27.xml"/><Relationship Id="rId20" Type="http://schemas.openxmlformats.org/officeDocument/2006/relationships/slideLayout" Target="../slideLayouts/slideLayout31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35.xml"/><Relationship Id="rId5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26.xml"/><Relationship Id="rId23" Type="http://schemas.openxmlformats.org/officeDocument/2006/relationships/slideLayout" Target="../slideLayouts/slideLayout34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21.xml"/><Relationship Id="rId19" Type="http://schemas.openxmlformats.org/officeDocument/2006/relationships/slideLayout" Target="../slideLayouts/slideLayout30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Relationship Id="rId14" Type="http://schemas.openxmlformats.org/officeDocument/2006/relationships/slideLayout" Target="../slideLayouts/slideLayout25.xml"/><Relationship Id="rId22" Type="http://schemas.openxmlformats.org/officeDocument/2006/relationships/slideLayout" Target="../slideLayouts/slideLayout33.xml"/><Relationship Id="rId27" Type="http://schemas.openxmlformats.org/officeDocument/2006/relationships/tags" Target="../tags/tag1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8/8/2025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8000" y="2281237"/>
            <a:ext cx="16992000" cy="7357763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368" y="10650900"/>
            <a:ext cx="6172200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5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6916400" y="10650900"/>
            <a:ext cx="707232" cy="23083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5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6532422" y="529200"/>
            <a:ext cx="1107578" cy="486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1014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  <p:sldLayoutId id="2147483678" r:id="rId18"/>
    <p:sldLayoutId id="2147483679" r:id="rId19"/>
    <p:sldLayoutId id="2147483680" r:id="rId20"/>
    <p:sldLayoutId id="2147483681" r:id="rId21"/>
    <p:sldLayoutId id="2147483682" r:id="rId22"/>
    <p:sldLayoutId id="2147483683" r:id="rId23"/>
    <p:sldLayoutId id="2147483684" r:id="rId24"/>
    <p:sldLayoutId id="2147483685" r:id="rId25"/>
  </p:sldLayoutIdLst>
  <p:transition spd="slow">
    <p:push dir="u"/>
  </p:transition>
  <p:hf sldNum="0" hdr="0" ftr="0" dt="0"/>
  <p:txStyles>
    <p:titleStyle>
      <a:lvl1pPr algn="l" defTabSz="1371600" rtl="0" eaLnBrk="1" latinLnBrk="0" hangingPunct="1">
        <a:lnSpc>
          <a:spcPct val="100000"/>
        </a:lnSpc>
        <a:spcBef>
          <a:spcPct val="0"/>
        </a:spcBef>
        <a:buNone/>
        <a:defRPr sz="4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40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81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Clr>
          <a:schemeClr val="tx1"/>
        </a:buClr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21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162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025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2430000" indent="-405000" algn="l" defTabSz="1371600" rtl="0" eaLnBrk="1" latinLnBrk="0" hangingPunct="1">
        <a:lnSpc>
          <a:spcPct val="120000"/>
        </a:lnSpc>
        <a:spcBef>
          <a:spcPts val="0"/>
        </a:spcBef>
        <a:spcAft>
          <a:spcPts val="90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4577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51435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829300" indent="-342900" algn="l" defTabSz="13716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3pPr>
      <a:lvl4pPr marL="2057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2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5pPr>
      <a:lvl6pPr marL="34290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6pPr>
      <a:lvl7pPr marL="41148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8pPr>
      <a:lvl9pPr marL="5486400" algn="l" defTabSz="1371600" rtl="0" eaLnBrk="1" latinLnBrk="0" hangingPunct="1">
        <a:defRPr sz="27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14.xml"/><Relationship Id="rId1" Type="http://schemas.openxmlformats.org/officeDocument/2006/relationships/tags" Target="../tags/tag27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8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29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9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9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9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9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9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9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9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9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9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9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9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9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9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9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9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9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9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9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9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9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9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9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29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9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9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6.xml"/><Relationship Id="rId2" Type="http://schemas.openxmlformats.org/officeDocument/2006/relationships/slideLayout" Target="../slideLayouts/slideLayout16.xml"/><Relationship Id="rId1" Type="http://schemas.openxmlformats.org/officeDocument/2006/relationships/tags" Target="../tags/tag30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8.bin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8.xml"/></Relationships>
</file>

<file path=ppt/slides/_rels/slide41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emf"/><Relationship Id="rId3" Type="http://schemas.openxmlformats.org/officeDocument/2006/relationships/notesSlide" Target="../notesSlides/notesSlide39.xml"/><Relationship Id="rId7" Type="http://schemas.openxmlformats.org/officeDocument/2006/relationships/image" Target="../media/image56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1.xml"/><Relationship Id="rId6" Type="http://schemas.openxmlformats.org/officeDocument/2006/relationships/image" Target="../media/image55.png"/><Relationship Id="rId5" Type="http://schemas.openxmlformats.org/officeDocument/2006/relationships/image" Target="../media/image54.emf"/><Relationship Id="rId4" Type="http://schemas.openxmlformats.org/officeDocument/2006/relationships/oleObject" Target="../embeddings/oleObject29.bin"/><Relationship Id="rId9" Type="http://schemas.openxmlformats.org/officeDocument/2006/relationships/image" Target="../media/image5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40.xml"/><Relationship Id="rId7" Type="http://schemas.openxmlformats.org/officeDocument/2006/relationships/image" Target="../media/image61.png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60.png"/><Relationship Id="rId5" Type="http://schemas.openxmlformats.org/officeDocument/2006/relationships/image" Target="../media/image59.emf"/><Relationship Id="rId4" Type="http://schemas.openxmlformats.org/officeDocument/2006/relationships/oleObject" Target="../embeddings/oleObject30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</a:t>
            </a:r>
            <a:r>
              <a:rPr lang="en-GB"/>
              <a:t>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Ypp 4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bbv Software Services AG  |  </a:t>
            </a:r>
            <a:r>
              <a:rPr lang="en-CH"/>
              <a:t>Date</a:t>
            </a:r>
            <a:r>
              <a:rPr lang="en-US"/>
              <a:t>: 21/07/2025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Presentation on MS Lists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14393747" y="3520299"/>
            <a:ext cx="2604509" cy="789402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9144000" y="1647000"/>
            <a:ext cx="9144000" cy="864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8000" y="2333498"/>
            <a:ext cx="7848000" cy="7344000"/>
          </a:xfrm>
        </p:spPr>
        <p:txBody>
          <a:bodyPr/>
          <a:lstStyle/>
          <a:p>
            <a:r>
              <a:rPr lang="en-US" dirty="0"/>
              <a:t>Introduction</a:t>
            </a:r>
          </a:p>
          <a:p>
            <a:r>
              <a:rPr lang="en-US" dirty="0"/>
              <a:t>Key Functionalities</a:t>
            </a:r>
          </a:p>
          <a:p>
            <a:r>
              <a:rPr lang="en-US" dirty="0"/>
              <a:t>Q&amp;A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2" y="2382"/>
          <a:ext cx="2382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2" y="2382"/>
                        <a:ext cx="2382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647000"/>
            <a:ext cx="18288000" cy="324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What is MS Lists?</a:t>
            </a:r>
            <a:endParaRPr lang="en-GB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Introduction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Placeholder 8">
            <a:extLst>
              <a:ext uri="{FF2B5EF4-FFF2-40B4-BE49-F238E27FC236}">
                <a16:creationId xmlns:a16="http://schemas.microsoft.com/office/drawing/2014/main" id="{7E9F1D8E-5CD6-669B-488D-B0394463E63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2"/>
          <a:srcRect l="4559" t="-5617" r="31079" b="-2491"/>
          <a:stretch>
            <a:fillRect/>
          </a:stretch>
        </p:blipFill>
        <p:spPr>
          <a:xfrm>
            <a:off x="9144000" y="1647000"/>
            <a:ext cx="9144000" cy="8640000"/>
          </a:xfrm>
          <a:prstGeom prst="rect">
            <a:avLst/>
          </a:prstGeom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39E9E7B5-BDF1-4F3B-5DC4-0AD36B6113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MS List is a tool for managing structured lists of data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Works like a simple table or database</a:t>
            </a:r>
          </a:p>
          <a:p>
            <a:pPr marL="1003934" lvl="1" indent="-501968">
              <a:lnSpc>
                <a:spcPct val="150000"/>
              </a:lnSpc>
              <a:buFont typeface="Arial"/>
              <a:buChar char="•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Let’s users: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Create lists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View data</a:t>
            </a:r>
          </a:p>
          <a:p>
            <a:pPr marL="2007869" lvl="2" indent="-669290">
              <a:lnSpc>
                <a:spcPct val="150000"/>
              </a:lnSpc>
              <a:buFont typeface="Arial"/>
              <a:buChar char="⚬"/>
            </a:pPr>
            <a:r>
              <a:rPr lang="en-US" dirty="0">
                <a:solidFill>
                  <a:srgbClr val="333333"/>
                </a:solidFill>
                <a:ea typeface="Arial"/>
                <a:cs typeface="Arial"/>
                <a:sym typeface="Arial"/>
              </a:rPr>
              <a:t>Manage info clearly and easily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521DB2E-AD64-0680-8783-D12FD58E835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US" dirty="0"/>
              <a:t>What is Microsoft Lists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D5096EED-E4A7-AF91-27B1-EB89B3B3A7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</a:t>
            </a:r>
          </a:p>
        </p:txBody>
      </p:sp>
    </p:spTree>
    <p:extLst>
      <p:ext uri="{BB962C8B-B14F-4D97-AF65-F5344CB8AC3E}">
        <p14:creationId xmlns:p14="http://schemas.microsoft.com/office/powerpoint/2010/main" val="409916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CD18B968-C584-8DAD-AD19-51B0EF32223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/>
              <a:t>Key Functionalities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3A8424D-E30A-CC8F-7CCA-CAC552D853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7458858" y="1664639"/>
            <a:ext cx="10829142" cy="6957722"/>
          </a:xfrm>
          <a:prstGeom prst="rect">
            <a:avLst/>
          </a:prstGeom>
          <a:solidFill>
            <a:srgbClr val="FFFFFF"/>
          </a:solidFill>
        </p:spPr>
      </p:pic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927CAB0-B37D-52A6-4426-B2C2E8441949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47999" y="2740325"/>
            <a:ext cx="7316129" cy="4806348"/>
          </a:xfrm>
        </p:spPr>
        <p:txBody>
          <a:bodyPr wrap="square" anchor="t">
            <a:norm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/>
              <a:t>Create and Manage Lists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Columns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Manage List Items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Custom Views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Conditional Formatting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Permissions and Sharing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/>
              <a:t>Built-in Templates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C2C62CE5-8D7B-3AB9-4C63-246726DC02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/>
              <a:t>Key Functionalities of MS Lists</a:t>
            </a:r>
          </a:p>
        </p:txBody>
      </p:sp>
    </p:spTree>
    <p:extLst>
      <p:ext uri="{BB962C8B-B14F-4D97-AF65-F5344CB8AC3E}">
        <p14:creationId xmlns:p14="http://schemas.microsoft.com/office/powerpoint/2010/main" val="13618161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7" name="Picture Placeholder 16">
            <a:extLst>
              <a:ext uri="{FF2B5EF4-FFF2-40B4-BE49-F238E27FC236}">
                <a16:creationId xmlns:a16="http://schemas.microsoft.com/office/drawing/2014/main" id="{966F8B3D-7E59-7423-D60A-E56F9456754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171" b="1171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23558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F4864C-4583-CC29-9DF4-730C90929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E6482B54-9CF4-9EAB-0CED-7385EC256A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Dashboard Entities</a:t>
            </a:r>
          </a:p>
        </p:txBody>
      </p:sp>
      <p:pic>
        <p:nvPicPr>
          <p:cNvPr id="80" name="Picture Placeholder 79">
            <a:extLst>
              <a:ext uri="{FF2B5EF4-FFF2-40B4-BE49-F238E27FC236}">
                <a16:creationId xmlns:a16="http://schemas.microsoft.com/office/drawing/2014/main" id="{1CA424A7-5090-245F-1D78-00BBBD24103E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028" b="2028"/>
          <a:stretch/>
        </p:blipFill>
        <p:spPr/>
      </p:pic>
    </p:spTree>
    <p:extLst>
      <p:ext uri="{BB962C8B-B14F-4D97-AF65-F5344CB8AC3E}">
        <p14:creationId xmlns:p14="http://schemas.microsoft.com/office/powerpoint/2010/main" val="38481861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8E58D5B8-4BCE-F3FD-F2DB-AA51CF997B6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92" b="192"/>
          <a:stretch/>
        </p:blipFill>
        <p:spPr/>
      </p:pic>
    </p:spTree>
    <p:extLst>
      <p:ext uri="{BB962C8B-B14F-4D97-AF65-F5344CB8AC3E}">
        <p14:creationId xmlns:p14="http://schemas.microsoft.com/office/powerpoint/2010/main" val="34423484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9ECD-E04B-9B6C-75C2-0FA45FCB09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76BBBD55-07DF-6EDE-006B-2FD4251C41B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606" b="3606"/>
          <a:stretch/>
        </p:blipFill>
        <p:spPr/>
      </p:pic>
    </p:spTree>
    <p:extLst>
      <p:ext uri="{BB962C8B-B14F-4D97-AF65-F5344CB8AC3E}">
        <p14:creationId xmlns:p14="http://schemas.microsoft.com/office/powerpoint/2010/main" val="4805094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19148836-0D2D-E5BA-C795-DB2F2F3DC4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39114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9AE478-4911-D45A-7A84-ABA3EBD9D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7524BDD-C6F5-8DBA-E0DD-04E9C990C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List Screen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6EBA56F1-64EB-28DA-C64E-3D66D4DA152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l="1849" r="1849"/>
          <a:stretch/>
        </p:blipFill>
        <p:spPr/>
      </p:pic>
    </p:spTree>
    <p:extLst>
      <p:ext uri="{BB962C8B-B14F-4D97-AF65-F5344CB8AC3E}">
        <p14:creationId xmlns:p14="http://schemas.microsoft.com/office/powerpoint/2010/main" val="685030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A790497-41CA-ECB4-231B-C6FE0AA7039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05482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CF4D9-2F87-79EA-153C-552F34C2D8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F1A088-7490-7621-ECF9-0EA7052ACE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List Type</a:t>
            </a:r>
          </a:p>
        </p:txBody>
      </p:sp>
      <p:pic>
        <p:nvPicPr>
          <p:cNvPr id="5" name="Picture Placeholder 4">
            <a:extLst>
              <a:ext uri="{FF2B5EF4-FFF2-40B4-BE49-F238E27FC236}">
                <a16:creationId xmlns:a16="http://schemas.microsoft.com/office/drawing/2014/main" id="{1575E8AB-139E-4342-264C-52A03C13907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3485" b="3485"/>
          <a:stretch/>
        </p:blipFill>
        <p:spPr/>
      </p:pic>
    </p:spTree>
    <p:extLst>
      <p:ext uri="{BB962C8B-B14F-4D97-AF65-F5344CB8AC3E}">
        <p14:creationId xmlns:p14="http://schemas.microsoft.com/office/powerpoint/2010/main" val="20985815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B0AC3EC-57F2-2BF4-87F3-8DD9EE81AFA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22" t="8009" b="8009"/>
          <a:stretch>
            <a:fillRect/>
          </a:stretch>
        </p:blipFill>
        <p:spPr>
          <a:xfrm>
            <a:off x="647999" y="1799400"/>
            <a:ext cx="16992003" cy="8210112"/>
          </a:xfrm>
        </p:spPr>
      </p:pic>
    </p:spTree>
    <p:extLst>
      <p:ext uri="{BB962C8B-B14F-4D97-AF65-F5344CB8AC3E}">
        <p14:creationId xmlns:p14="http://schemas.microsoft.com/office/powerpoint/2010/main" val="36416997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926619-FFFF-5302-9D68-83328BFD09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E4EABAE-EECB-BFE2-DE62-E4E7DE8DA7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Screen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A4813B33-3F5F-153F-E137-495B389362DB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2712" b="2712"/>
          <a:stretch/>
        </p:blipFill>
        <p:spPr/>
      </p:pic>
    </p:spTree>
    <p:extLst>
      <p:ext uri="{BB962C8B-B14F-4D97-AF65-F5344CB8AC3E}">
        <p14:creationId xmlns:p14="http://schemas.microsoft.com/office/powerpoint/2010/main" val="23225997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21" name="Picture Placeholder 20">
            <a:extLst>
              <a:ext uri="{FF2B5EF4-FFF2-40B4-BE49-F238E27FC236}">
                <a16:creationId xmlns:a16="http://schemas.microsoft.com/office/drawing/2014/main" id="{4BBA0D4F-937A-412D-3B78-4D37B7C56D2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80" b="7880"/>
          <a:stretch/>
        </p:blipFill>
        <p:spPr/>
      </p:pic>
    </p:spTree>
    <p:extLst>
      <p:ext uri="{BB962C8B-B14F-4D97-AF65-F5344CB8AC3E}">
        <p14:creationId xmlns:p14="http://schemas.microsoft.com/office/powerpoint/2010/main" val="5612184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9AF2766-D0DA-8CB6-F748-E2B98E4BD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AE4D48-0173-8042-5B42-8B77034778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Create List From Template</a:t>
            </a:r>
          </a:p>
        </p:txBody>
      </p:sp>
      <p:pic>
        <p:nvPicPr>
          <p:cNvPr id="10" name="Picture Placeholder 9">
            <a:extLst>
              <a:ext uri="{FF2B5EF4-FFF2-40B4-BE49-F238E27FC236}">
                <a16:creationId xmlns:a16="http://schemas.microsoft.com/office/drawing/2014/main" id="{7D52CA64-B44F-0566-FD46-11EA49D171F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8723" b="8723"/>
          <a:stretch/>
        </p:blipFill>
        <p:spPr/>
      </p:pic>
    </p:spTree>
    <p:extLst>
      <p:ext uri="{BB962C8B-B14F-4D97-AF65-F5344CB8AC3E}">
        <p14:creationId xmlns:p14="http://schemas.microsoft.com/office/powerpoint/2010/main" val="1118706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C1AAAF11-6609-D9AA-06CC-74DDE48876C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679" b="679"/>
          <a:stretch/>
        </p:blipFill>
        <p:spPr>
          <a:xfrm>
            <a:off x="304800" y="1485900"/>
            <a:ext cx="18288000" cy="8640000"/>
          </a:xfrm>
        </p:spPr>
      </p:pic>
    </p:spTree>
    <p:extLst>
      <p:ext uri="{BB962C8B-B14F-4D97-AF65-F5344CB8AC3E}">
        <p14:creationId xmlns:p14="http://schemas.microsoft.com/office/powerpoint/2010/main" val="24022488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486DA6-C8B0-C5C4-F8D5-75EA773E8B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A16EFF65-BED0-97FB-2976-DB9AFB2622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Template View &amp; Template Column</a:t>
            </a:r>
          </a:p>
        </p:txBody>
      </p:sp>
      <p:pic>
        <p:nvPicPr>
          <p:cNvPr id="15" name="Picture Placeholder 14">
            <a:extLst>
              <a:ext uri="{FF2B5EF4-FFF2-40B4-BE49-F238E27FC236}">
                <a16:creationId xmlns:a16="http://schemas.microsoft.com/office/drawing/2014/main" id="{D5A141CF-0066-0135-1E93-42371574FE0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11774" b="11774"/>
          <a:stretch/>
        </p:blipFill>
        <p:spPr/>
      </p:pic>
    </p:spTree>
    <p:extLst>
      <p:ext uri="{BB962C8B-B14F-4D97-AF65-F5344CB8AC3E}">
        <p14:creationId xmlns:p14="http://schemas.microsoft.com/office/powerpoint/2010/main" val="5681644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3F9EC249-2F1D-93FA-82F7-B0F716103AB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1000" y="1790700"/>
            <a:ext cx="17662459" cy="7848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61527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0EF38-376F-1BD6-5CAC-C19E1A23E3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Placeholder 3">
            <a:extLst>
              <a:ext uri="{FF2B5EF4-FFF2-40B4-BE49-F238E27FC236}">
                <a16:creationId xmlns:a16="http://schemas.microsoft.com/office/drawing/2014/main" id="{7864D369-1DBC-978D-B102-D19B901541F8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9628" b="9628"/>
          <a:stretch/>
        </p:blipFill>
        <p:spPr/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8BCDE327-815A-7899-3890-2C397D9CA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wrap="square" anchor="ctr">
            <a:normAutofit/>
          </a:bodyPr>
          <a:lstStyle/>
          <a:p>
            <a:r>
              <a:rPr lang="en-US" dirty="0"/>
              <a:t>List Management</a:t>
            </a:r>
          </a:p>
        </p:txBody>
      </p:sp>
    </p:spTree>
    <p:extLst>
      <p:ext uri="{BB962C8B-B14F-4D97-AF65-F5344CB8AC3E}">
        <p14:creationId xmlns:p14="http://schemas.microsoft.com/office/powerpoint/2010/main" val="37626786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74AE94-9C99-2013-F9F0-3E2755DD8A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35C2F91-A801-434C-A0DF-099E4FFF55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Row Detail</a:t>
            </a:r>
          </a:p>
        </p:txBody>
      </p:sp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D9A7ADC7-4D4B-12CB-AA07-68458D26E7F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/>
          <a:srcRect t="780" b="780"/>
          <a:stretch>
            <a:fillRect/>
          </a:stretch>
        </p:blipFill>
        <p:spPr>
          <a:xfrm>
            <a:off x="0" y="1646238"/>
            <a:ext cx="18288000" cy="8640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386596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5EF8A1-492E-D225-2B6B-B6D529154D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F118052-DF54-D4A4-9B78-FE0346D9E0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25D913B1-935B-382A-D64F-8C493FA4D37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6712136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041D4A-5197-4EE0-99C6-D16E6E339D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61D64CC-BB0C-D2E7-5CB6-549EA6FE5E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Entities</a:t>
            </a:r>
          </a:p>
        </p:txBody>
      </p:sp>
      <p:pic>
        <p:nvPicPr>
          <p:cNvPr id="10" name="Picture Placeholder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C77D46F-883A-4E43-C570-DBE431B0FE4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44"/>
          <a:stretch>
            <a:fillRect/>
          </a:stretch>
        </p:blipFill>
        <p:spPr>
          <a:xfrm>
            <a:off x="647999" y="1647002"/>
            <a:ext cx="16878003" cy="6135363"/>
          </a:xfrm>
        </p:spPr>
      </p:pic>
    </p:spTree>
    <p:extLst>
      <p:ext uri="{BB962C8B-B14F-4D97-AF65-F5344CB8AC3E}">
        <p14:creationId xmlns:p14="http://schemas.microsoft.com/office/powerpoint/2010/main" val="221947597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E733E-D767-3AC2-04A7-69E5FD9749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FFE9C9-9C71-D595-387F-F8C47AC843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</a:t>
            </a:r>
          </a:p>
        </p:txBody>
      </p:sp>
      <p:pic>
        <p:nvPicPr>
          <p:cNvPr id="11" name="Picture Placeholder 10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973A998-350F-4FF5-0F36-2B884A7F75F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58590515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F651FE-27B2-BD9A-75FF-96FAB6CC5E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C045AC86-4383-E46B-9025-7140C39277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Column Setting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0B1A061-7F46-8518-F702-6C65407587B5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1" r="-184" b="566"/>
          <a:stretch>
            <a:fillRect/>
          </a:stretch>
        </p:blipFill>
        <p:spPr>
          <a:xfrm>
            <a:off x="647998" y="1647000"/>
            <a:ext cx="16992005" cy="6985947"/>
          </a:xfrm>
        </p:spPr>
      </p:pic>
    </p:spTree>
    <p:extLst>
      <p:ext uri="{BB962C8B-B14F-4D97-AF65-F5344CB8AC3E}">
        <p14:creationId xmlns:p14="http://schemas.microsoft.com/office/powerpoint/2010/main" val="16730764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0ABCF3-8133-6283-0B32-0AA491A00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25D024FB-41DA-AF68-5E05-C4A9625A49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</a:t>
            </a:r>
          </a:p>
        </p:txBody>
      </p:sp>
      <p:pic>
        <p:nvPicPr>
          <p:cNvPr id="15" name="Picture Placeholder 1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A1F1F8A1-2CF5-CB8C-F068-4B27AAB82B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7" r="180"/>
          <a:stretch>
            <a:fillRect/>
          </a:stretch>
        </p:blipFill>
        <p:spPr>
          <a:xfrm>
            <a:off x="3069772" y="1647000"/>
            <a:ext cx="12148457" cy="8640000"/>
          </a:xfrm>
        </p:spPr>
      </p:pic>
    </p:spTree>
    <p:extLst>
      <p:ext uri="{BB962C8B-B14F-4D97-AF65-F5344CB8AC3E}">
        <p14:creationId xmlns:p14="http://schemas.microsoft.com/office/powerpoint/2010/main" val="32650423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4A687D-585A-D598-01E2-2F6EFA9F7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8D5A7C6D-E99A-546E-A5A6-394C7A2EB5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Entities</a:t>
            </a:r>
          </a:p>
        </p:txBody>
      </p:sp>
      <p:pic>
        <p:nvPicPr>
          <p:cNvPr id="5" name="Picture Placeholder 4" descr="A screenshot of a computer&#10;&#10;AI-generated content may be incorrect.">
            <a:extLst>
              <a:ext uri="{FF2B5EF4-FFF2-40B4-BE49-F238E27FC236}">
                <a16:creationId xmlns:a16="http://schemas.microsoft.com/office/drawing/2014/main" id="{D730F6A0-CE23-0619-E321-B7F040286C1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2" b="-130"/>
          <a:stretch>
            <a:fillRect/>
          </a:stretch>
        </p:blipFill>
        <p:spPr>
          <a:xfrm>
            <a:off x="647998" y="1647002"/>
            <a:ext cx="16986860" cy="7186056"/>
          </a:xfrm>
        </p:spPr>
      </p:pic>
    </p:spTree>
    <p:extLst>
      <p:ext uri="{BB962C8B-B14F-4D97-AF65-F5344CB8AC3E}">
        <p14:creationId xmlns:p14="http://schemas.microsoft.com/office/powerpoint/2010/main" val="9839982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2E945-4E22-B789-684A-201150198C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38AAD71D-C359-19F2-4466-45BA7C207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List View Sample Data</a:t>
            </a:r>
          </a:p>
        </p:txBody>
      </p:sp>
      <p:pic>
        <p:nvPicPr>
          <p:cNvPr id="4" name="Picture Placeholder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6AD55256-DB90-15B6-29C3-00DA194F69F3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417"/>
          <a:stretch>
            <a:fillRect/>
          </a:stretch>
        </p:blipFill>
        <p:spPr>
          <a:xfrm>
            <a:off x="647998" y="1647000"/>
            <a:ext cx="16992005" cy="5286747"/>
          </a:xfrm>
        </p:spPr>
      </p:pic>
    </p:spTree>
    <p:extLst>
      <p:ext uri="{BB962C8B-B14F-4D97-AF65-F5344CB8AC3E}">
        <p14:creationId xmlns:p14="http://schemas.microsoft.com/office/powerpoint/2010/main" val="41778521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1D3D6D-3269-CDC4-C6FE-1DF37517E2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BBD31A76-AF79-E867-F1D8-269AF3EBA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6" name="Picture Placeholder 5" descr="A screenshot of a chat&#10;&#10;AI-generated content may be incorrect.">
            <a:extLst>
              <a:ext uri="{FF2B5EF4-FFF2-40B4-BE49-F238E27FC236}">
                <a16:creationId xmlns:a16="http://schemas.microsoft.com/office/drawing/2014/main" id="{A6299011-E8CA-ECA8-EC51-11439714D8B1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37791860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574176-F051-EECB-CA50-D6E847FEB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6D8F9AC3-DDC2-5E69-44D4-2103D2376F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</a:t>
            </a:r>
          </a:p>
        </p:txBody>
      </p:sp>
      <p:pic>
        <p:nvPicPr>
          <p:cNvPr id="4" name="Picture Placeholder 3" descr="A screenshot of a chat&#10;&#10;AI-generated content may be incorrect.">
            <a:extLst>
              <a:ext uri="{FF2B5EF4-FFF2-40B4-BE49-F238E27FC236}">
                <a16:creationId xmlns:a16="http://schemas.microsoft.com/office/drawing/2014/main" id="{A2D34B8B-3887-EBFA-4D46-8D706754969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009" b="8009"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49869889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46274-33D8-1813-1409-C7BB761757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9F0FAEAA-EE44-CEEB-4EF5-CF4A3D0245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Entities</a:t>
            </a:r>
          </a:p>
        </p:txBody>
      </p:sp>
      <p:pic>
        <p:nvPicPr>
          <p:cNvPr id="5" name="Picture Placeholder 4" descr="A diagram of a data flow&#10;&#10;AI-generated content may be incorrect.">
            <a:extLst>
              <a:ext uri="{FF2B5EF4-FFF2-40B4-BE49-F238E27FC236}">
                <a16:creationId xmlns:a16="http://schemas.microsoft.com/office/drawing/2014/main" id="{18C207E9-9D6E-DD67-DB19-1515B410C52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t="8" r="205"/>
          <a:stretch>
            <a:fillRect/>
          </a:stretch>
        </p:blipFill>
        <p:spPr>
          <a:xfrm>
            <a:off x="2810024" y="1647000"/>
            <a:ext cx="12667952" cy="7865112"/>
          </a:xfrm>
        </p:spPr>
      </p:pic>
    </p:spTree>
    <p:extLst>
      <p:ext uri="{BB962C8B-B14F-4D97-AF65-F5344CB8AC3E}">
        <p14:creationId xmlns:p14="http://schemas.microsoft.com/office/powerpoint/2010/main" val="411910468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CFD0C0-BBE2-736B-6DB9-EEBA4825CD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70661A88-CE61-8704-DE90-3646700B9B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Manage Access Sample Data</a:t>
            </a:r>
          </a:p>
        </p:txBody>
      </p:sp>
      <p:pic>
        <p:nvPicPr>
          <p:cNvPr id="4" name="Picture Placeholder 3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494C8C31-6CE5-9517-A2A5-6AE0FA29DC6D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" b="116"/>
          <a:stretch>
            <a:fillRect/>
          </a:stretch>
        </p:blipFill>
        <p:spPr>
          <a:xfrm>
            <a:off x="647999" y="1647002"/>
            <a:ext cx="17030403" cy="5217597"/>
          </a:xfrm>
        </p:spPr>
      </p:pic>
    </p:spTree>
    <p:extLst>
      <p:ext uri="{BB962C8B-B14F-4D97-AF65-F5344CB8AC3E}">
        <p14:creationId xmlns:p14="http://schemas.microsoft.com/office/powerpoint/2010/main" val="30240838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08F2D4-EE8F-6712-04E7-235CC71B00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>
            <a:extLst>
              <a:ext uri="{FF2B5EF4-FFF2-40B4-BE49-F238E27FC236}">
                <a16:creationId xmlns:a16="http://schemas.microsoft.com/office/drawing/2014/main" id="{463DFA8A-0AB8-71E6-C1B2-00CA521522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4580000" cy="1647000"/>
          </a:xfrm>
        </p:spPr>
        <p:txBody>
          <a:bodyPr wrap="square" anchor="ctr">
            <a:normAutofit/>
          </a:bodyPr>
          <a:lstStyle/>
          <a:p>
            <a:r>
              <a:rPr lang="en-US" dirty="0"/>
              <a:t>Trash</a:t>
            </a:r>
          </a:p>
        </p:txBody>
      </p:sp>
      <p:pic>
        <p:nvPicPr>
          <p:cNvPr id="6" name="Picture Placeholder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231B2A2-9EEE-B83A-77AB-6E4855A2F87C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009" b="9"/>
          <a:stretch>
            <a:fillRect/>
          </a:stretch>
        </p:blipFill>
        <p:spPr>
          <a:xfrm>
            <a:off x="647998" y="1647000"/>
            <a:ext cx="16992005" cy="8027718"/>
          </a:xfrm>
        </p:spPr>
      </p:pic>
    </p:spTree>
    <p:extLst>
      <p:ext uri="{BB962C8B-B14F-4D97-AF65-F5344CB8AC3E}">
        <p14:creationId xmlns:p14="http://schemas.microsoft.com/office/powerpoint/2010/main" val="3346405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9B03306-D96C-F23E-D98C-D03D105358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43EF90ED-AEED-A160-1BCE-A3CD84AD9E2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43EF90ED-AEED-A160-1BCE-A3CD84AD9E2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89AC88A2-8CBC-9629-9F61-1ECA954DFD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728F7F58-5182-D291-B326-EF091C452EB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Q&amp;A</a:t>
            </a:r>
          </a:p>
        </p:txBody>
      </p:sp>
    </p:spTree>
    <p:extLst>
      <p:ext uri="{BB962C8B-B14F-4D97-AF65-F5344CB8AC3E}">
        <p14:creationId xmlns:p14="http://schemas.microsoft.com/office/powerpoint/2010/main" val="301324932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647998" y="1647825"/>
            <a:ext cx="16994684" cy="7993857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defTabSz="1371600">
              <a:spcAft>
                <a:spcPts val="900"/>
              </a:spcAft>
            </a:pPr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1296000" y="6369243"/>
            <a:ext cx="15703200" cy="2215992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pPr defTabSz="1371600"/>
            <a:r>
              <a:rPr lang="en-GB" sz="7200">
                <a:solidFill>
                  <a:srgbClr val="333333"/>
                </a:solidFill>
                <a:latin typeface="Arial"/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642939" y="2295000"/>
            <a:ext cx="3475449" cy="7346682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216000" tIns="216000" rIns="144000" bIns="288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1371566">
              <a:spcAft>
                <a:spcPts val="2400"/>
              </a:spcAft>
            </a:pPr>
            <a:r>
              <a:rPr lang="en-GB" sz="3200" b="1" kern="1200" spc="6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Working area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Depending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on the slide, a single-column layout, a 2-column or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3-column layout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is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used.</a:t>
            </a:r>
          </a:p>
          <a:p>
            <a:pPr lvl="3" defTabSz="1371566">
              <a:spcAft>
                <a:spcPts val="2400"/>
              </a:spcAft>
            </a:pP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Display </a:t>
            </a:r>
            <a:r>
              <a:rPr lang="en-GB" sz="2400" spc="0" dirty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the ruler </a:t>
            </a:r>
            <a:r>
              <a:rPr lang="en-GB" sz="2400" spc="0">
                <a:solidFill>
                  <a:srgbClr val="FFFFFF"/>
                </a:solidFill>
                <a:latin typeface="Arial"/>
                <a:cs typeface="Arial" panose="020B0604020202020204" pitchFamily="34" charset="0"/>
              </a:rPr>
              <a:t>and guides in the «View» tab.</a:t>
            </a:r>
            <a:endParaRPr lang="en-GB" sz="2400" spc="0" dirty="0">
              <a:solidFill>
                <a:srgbClr val="FFFFFF"/>
              </a:solidFill>
              <a:latin typeface="Arial"/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4672266" y="6179597"/>
            <a:ext cx="6005295" cy="3328331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11637387" y="6161139"/>
            <a:ext cx="6005295" cy="3346788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7643331" y="3236120"/>
            <a:ext cx="6912000" cy="2106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defTabSz="1371600">
                <a:spcAft>
                  <a:spcPts val="900"/>
                </a:spcAft>
              </a:pPr>
              <a:endParaRPr lang="en-GB" sz="2700" dirty="0">
                <a:solidFill>
                  <a:srgbClr val="FFFFFF"/>
                </a:solidFill>
                <a:latin typeface="Arial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371566">
                <a:defRPr/>
              </a:pPr>
              <a:endParaRPr lang="en-GB" dirty="0">
                <a:solidFill>
                  <a:prstClr val="black"/>
                </a:solidFill>
                <a:latin typeface="Arial"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2383" y="2382"/>
          <a:ext cx="1841" cy="23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383" y="2382"/>
                        <a:ext cx="1841" cy="23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7999" y="0"/>
            <a:ext cx="15214854" cy="1647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6685143" y="3259545"/>
            <a:ext cx="0" cy="6382137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9750194" y="4827911"/>
            <a:ext cx="2001929" cy="646331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Main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10309237" y="3259546"/>
            <a:ext cx="904160" cy="81884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13532507" y="3259546"/>
            <a:ext cx="904160" cy="818843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14605112" y="3259546"/>
            <a:ext cx="904160" cy="818843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8160389" y="3259546"/>
            <a:ext cx="904160" cy="818843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white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12458084" y="3259546"/>
            <a:ext cx="904160" cy="818843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6753969" y="3259546"/>
            <a:ext cx="904160" cy="81884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5679538" y="3259457"/>
            <a:ext cx="904160" cy="817682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333333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11383669" y="3259546"/>
            <a:ext cx="904160" cy="818843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7085966" y="3259546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9227983" y="3259546"/>
            <a:ext cx="904160" cy="818843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srgbClr val="FFFFFF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10303635" y="4328413"/>
            <a:ext cx="904146" cy="326063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642938" y="3236120"/>
            <a:ext cx="3186000" cy="6405551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44000" tIns="144000" rIns="144000" bIns="144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marL="3429000" lvl="5" defTabSz="1371600"/>
            <a:endParaRPr lang="en-GB" sz="2700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416" y="3609144"/>
            <a:ext cx="2949362" cy="2119854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766607" y="6069414"/>
            <a:ext cx="2959170" cy="103065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766607" y="8542122"/>
            <a:ext cx="2959170" cy="813864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766607" y="7405389"/>
            <a:ext cx="2959170" cy="813864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787009" y="7405390"/>
            <a:ext cx="2938769" cy="19505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4642171" y="3800695"/>
            <a:ext cx="1989218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4642172" y="4743407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CC071E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4642163" y="8044285"/>
            <a:ext cx="1664756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E3061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4064966" y="3985085"/>
            <a:ext cx="326063" cy="284594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4064966" y="4397367"/>
            <a:ext cx="326063" cy="1331628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4064966" y="7405389"/>
            <a:ext cx="326063" cy="1970463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4642172" y="6269035"/>
            <a:ext cx="1664751" cy="637166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828709">
              <a:lnSpc>
                <a:spcPct val="100000"/>
              </a:lnSpc>
              <a:spcBef>
                <a:spcPts val="2000"/>
              </a:spcBef>
              <a:buNone/>
              <a:defRPr/>
            </a:pPr>
            <a:r>
              <a:rPr lang="en-GB" sz="1800">
                <a:solidFill>
                  <a:srgbClr val="333333"/>
                </a:solidFill>
                <a:latin typeface="Arial"/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4064966" y="6021989"/>
            <a:ext cx="326063" cy="1120160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7105844" y="6402809"/>
            <a:ext cx="904160" cy="818843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10329115" y="6402809"/>
            <a:ext cx="904160" cy="818843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9254690" y="6402809"/>
            <a:ext cx="904160" cy="818843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8180267" y="6402809"/>
            <a:ext cx="904160" cy="818843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13552385" y="6402809"/>
            <a:ext cx="904160" cy="818843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14624990" y="6402809"/>
            <a:ext cx="904160" cy="818843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5699416" y="6402809"/>
            <a:ext cx="904160" cy="818843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6773847" y="6402809"/>
            <a:ext cx="904160" cy="818843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7105844" y="7396724"/>
            <a:ext cx="904160" cy="818843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10329115" y="7396724"/>
            <a:ext cx="904160" cy="818843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9254690" y="7396724"/>
            <a:ext cx="904160" cy="818843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8180267" y="7396724"/>
            <a:ext cx="904160" cy="818843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13552385" y="7396724"/>
            <a:ext cx="904160" cy="818843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14624990" y="7396724"/>
            <a:ext cx="904160" cy="818843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5699416" y="7396724"/>
            <a:ext cx="904160" cy="818843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6773847" y="7396724"/>
            <a:ext cx="904160" cy="818843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7142878" y="5896167"/>
            <a:ext cx="10502186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829915" y="4357970"/>
            <a:ext cx="2809547" cy="12798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828755">
                <a:defRPr/>
              </a:pPr>
              <a:endParaRPr lang="en-GB" sz="2201">
                <a:solidFill>
                  <a:prstClr val="black"/>
                </a:solidFill>
                <a:latin typeface="Arial"/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7078076" y="4328413"/>
            <a:ext cx="1986437" cy="326063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7085966" y="4827910"/>
            <a:ext cx="197855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Default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12609572" y="4827910"/>
            <a:ext cx="3780000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11383669" y="4328413"/>
            <a:ext cx="6239120" cy="326063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7078076" y="8492185"/>
            <a:ext cx="4155197" cy="326063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7105844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12458084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11383660" y="6402809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12458084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11383660" y="7396724"/>
            <a:ext cx="904160" cy="818843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828755">
              <a:defRPr/>
            </a:pPr>
            <a:endParaRPr lang="en-GB" sz="1601">
              <a:solidFill>
                <a:prstClr val="black"/>
              </a:solidFill>
              <a:latin typeface="Arial"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13522804" y="8492185"/>
            <a:ext cx="4155197" cy="326063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13550572" y="8991683"/>
            <a:ext cx="4127435" cy="646331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1371566">
              <a:spcBef>
                <a:spcPts val="1500"/>
              </a:spcBef>
              <a:defRPr/>
            </a:pP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Colours for diagrams, </a:t>
            </a:r>
            <a:b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</a:br>
            <a:r>
              <a:rPr lang="en-GB" sz="2100">
                <a:solidFill>
                  <a:srgbClr val="333333"/>
                </a:solidFill>
                <a:latin typeface="Arial"/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0"/>
    </mc:Choice>
    <mc:Fallback xmlns=""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1751</TotalTime>
  <Words>4029</Words>
  <Application>Microsoft Office PowerPoint</Application>
  <PresentationFormat>Custom</PresentationFormat>
  <Paragraphs>777</Paragraphs>
  <Slides>42</Slides>
  <Notes>40</Notes>
  <HiddenSlides>3</HiddenSlides>
  <MMClips>0</MMClips>
  <ScaleCrop>false</ScaleCrop>
  <HeadingPairs>
    <vt:vector size="8" baseType="variant">
      <vt:variant>
        <vt:lpstr>Fonts Used</vt:lpstr>
      </vt:variant>
      <vt:variant>
        <vt:i4>4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42</vt:i4>
      </vt:variant>
    </vt:vector>
  </HeadingPairs>
  <TitlesOfParts>
    <vt:vector size="49" baseType="lpstr">
      <vt:lpstr>Cascadia Mono</vt:lpstr>
      <vt:lpstr>Aptos</vt:lpstr>
      <vt:lpstr>Arial</vt:lpstr>
      <vt:lpstr>Calibri</vt:lpstr>
      <vt:lpstr>Office Theme</vt:lpstr>
      <vt:lpstr>bbv template EN</vt:lpstr>
      <vt:lpstr>think-cell Slide</vt:lpstr>
      <vt:lpstr>PowerPoint Presentation</vt:lpstr>
      <vt:lpstr>Ypp 4</vt:lpstr>
      <vt:lpstr>Presentation on MS Lists Functionalities</vt:lpstr>
      <vt:lpstr>Agenda</vt:lpstr>
      <vt:lpstr>Introduction</vt:lpstr>
      <vt:lpstr>Introduction</vt:lpstr>
      <vt:lpstr>Key Functionalities</vt:lpstr>
      <vt:lpstr>Key Functionalities of MS Lists</vt:lpstr>
      <vt:lpstr>Dashboard Screen</vt:lpstr>
      <vt:lpstr>Dashboard Entities</vt:lpstr>
      <vt:lpstr>Dashboard Screen</vt:lpstr>
      <vt:lpstr>Dashboard Screen</vt:lpstr>
      <vt:lpstr>Create List Screen</vt:lpstr>
      <vt:lpstr>Create List Screen</vt:lpstr>
      <vt:lpstr>Create List From List Type</vt:lpstr>
      <vt:lpstr>Create List From List Type</vt:lpstr>
      <vt:lpstr>Create List Screen</vt:lpstr>
      <vt:lpstr>Create List Screen</vt:lpstr>
      <vt:lpstr>Create List From Template</vt:lpstr>
      <vt:lpstr>Create List From Template</vt:lpstr>
      <vt:lpstr>Template View &amp; Template Column</vt:lpstr>
      <vt:lpstr>Template View &amp; Template Column</vt:lpstr>
      <vt:lpstr>List Management</vt:lpstr>
      <vt:lpstr>List Management</vt:lpstr>
      <vt:lpstr>List Row Detail</vt:lpstr>
      <vt:lpstr>List Column</vt:lpstr>
      <vt:lpstr>List Entities</vt:lpstr>
      <vt:lpstr>List Column Setting</vt:lpstr>
      <vt:lpstr>List Column Setting Entities</vt:lpstr>
      <vt:lpstr>List View</vt:lpstr>
      <vt:lpstr>List View Entities</vt:lpstr>
      <vt:lpstr>List View Sample Data</vt:lpstr>
      <vt:lpstr>Manage Access</vt:lpstr>
      <vt:lpstr>Manage Access</vt:lpstr>
      <vt:lpstr>Manage Access Entities</vt:lpstr>
      <vt:lpstr>Manage Access Sample Data</vt:lpstr>
      <vt:lpstr>Trash</vt:lpstr>
      <vt:lpstr>Q&amp;A</vt:lpstr>
      <vt:lpstr>PowerPoint Presentation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Young Professional Internship Program</dc:title>
  <dc:creator>Dũng Trần</dc:creator>
  <cp:lastModifiedBy>Dũng Trần</cp:lastModifiedBy>
  <cp:revision>14</cp:revision>
  <dcterms:created xsi:type="dcterms:W3CDTF">2006-08-16T00:00:00Z</dcterms:created>
  <dcterms:modified xsi:type="dcterms:W3CDTF">2025-08-08T10:27:14Z</dcterms:modified>
  <dc:identifier>DAGuFyPGShM</dc:identifier>
</cp:coreProperties>
</file>